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9"/>
  </p:notesMasterIdLst>
  <p:sldIdLst>
    <p:sldId id="266" r:id="rId5"/>
    <p:sldId id="267" r:id="rId6"/>
    <p:sldId id="268" r:id="rId7"/>
    <p:sldId id="269" r:id="rId8"/>
  </p:sldIdLst>
  <p:sldSz cx="7864475" cy="10880725"/>
  <p:notesSz cx="6858000" cy="9144000"/>
  <p:embeddedFontLst>
    <p:embeddedFont>
      <p:font typeface="Century Gothic" panose="020B0502020202020204"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4" roundtripDataSignature="AMtx7mgNajOsvrqRwf/JvmLkhnEbdDKE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4FFED-41DA-4744-B6F4-41D717D6DA8A}" v="1" dt="2026-04-21T08:23:38.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32"/>
    <p:restoredTop sz="94658"/>
  </p:normalViewPr>
  <p:slideViewPr>
    <p:cSldViewPr snapToGrid="0">
      <p:cViewPr varScale="1">
        <p:scale>
          <a:sx n="75" d="100"/>
          <a:sy n="75" d="100"/>
        </p:scale>
        <p:origin x="3392" y="192"/>
      </p:cViewPr>
      <p:guideLst/>
    </p:cSldViewPr>
  </p:slideViewPr>
  <p:notesTextViewPr>
    <p:cViewPr>
      <p:scale>
        <a:sx n="145" d="100"/>
        <a:sy n="14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2.fntdata"/><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font" Target="fonts/font1.fntdata"/><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orenc Demrozi" userId="599d0f13-7406-4811-9e33-bc52bc3fd4aa" providerId="ADAL" clId="{49FF6239-3A91-57CD-B817-FF9A98D65F3B}"/>
    <pc:docChg chg="modSld">
      <pc:chgData name="Florenc Demrozi" userId="599d0f13-7406-4811-9e33-bc52bc3fd4aa" providerId="ADAL" clId="{49FF6239-3A91-57CD-B817-FF9A98D65F3B}" dt="2026-04-22T08:04:32.107" v="0" actId="20577"/>
      <pc:docMkLst>
        <pc:docMk/>
      </pc:docMkLst>
      <pc:sldChg chg="modSp mod">
        <pc:chgData name="Florenc Demrozi" userId="599d0f13-7406-4811-9e33-bc52bc3fd4aa" providerId="ADAL" clId="{49FF6239-3A91-57CD-B817-FF9A98D65F3B}" dt="2026-04-22T08:04:32.107" v="0" actId="20577"/>
        <pc:sldMkLst>
          <pc:docMk/>
          <pc:sldMk cId="2947349667" sldId="268"/>
        </pc:sldMkLst>
        <pc:spChg chg="mod">
          <ac:chgData name="Florenc Demrozi" userId="599d0f13-7406-4811-9e33-bc52bc3fd4aa" providerId="ADAL" clId="{49FF6239-3A91-57CD-B817-FF9A98D65F3B}" dt="2026-04-22T08:04:32.107" v="0" actId="20577"/>
          <ac:spMkLst>
            <pc:docMk/>
            <pc:sldMk cId="2947349667" sldId="268"/>
            <ac:spMk id="35" creationId="{18F9C9A8-58BE-08D0-A398-4C8A55251B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90750" y="685800"/>
            <a:ext cx="2476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3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655E88-A94F-9073-479A-91A4AD4C08C2}"/>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6EED65A9-A910-E714-C6A8-2C8CF934B7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1C207F29-687F-FB5F-B9B7-6B157F281F6F}"/>
              </a:ext>
            </a:extLst>
          </p:cNvPr>
          <p:cNvSpPr>
            <a:spLocks noGrp="1" noRot="1" noChangeAspect="1"/>
          </p:cNvSpPr>
          <p:nvPr>
            <p:ph type="sldImg" idx="2"/>
          </p:nvPr>
        </p:nvSpPr>
        <p:spPr>
          <a:xfrm>
            <a:off x="2190750" y="685800"/>
            <a:ext cx="24765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284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45F3ED7-8477-D47F-5C35-FE148D32857A}"/>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97C5719-A235-75BB-0D4F-8BA6EE57C3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DDCF4B73-767D-5FA1-5387-497EA380E5A6}"/>
              </a:ext>
            </a:extLst>
          </p:cNvPr>
          <p:cNvSpPr>
            <a:spLocks noGrp="1" noRot="1" noChangeAspect="1"/>
          </p:cNvSpPr>
          <p:nvPr>
            <p:ph type="sldImg" idx="2"/>
          </p:nvPr>
        </p:nvSpPr>
        <p:spPr>
          <a:xfrm>
            <a:off x="2190750" y="685800"/>
            <a:ext cx="24765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6833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2ADB656-39E5-7186-4F3F-88B338CF6373}"/>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6D512E3-1F38-9B40-56E8-12807C906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60B0A100-0B2B-A12F-C5E1-691A67ECDC6C}"/>
              </a:ext>
            </a:extLst>
          </p:cNvPr>
          <p:cNvSpPr>
            <a:spLocks noGrp="1" noRot="1" noChangeAspect="1"/>
          </p:cNvSpPr>
          <p:nvPr>
            <p:ph type="sldImg" idx="2"/>
          </p:nvPr>
        </p:nvSpPr>
        <p:spPr>
          <a:xfrm>
            <a:off x="2190750" y="685800"/>
            <a:ext cx="24765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283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E844291-C432-A8F2-9096-CA7881C96CD9}"/>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BBA7745-8304-C226-F33D-B1229476E1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B06BA3F0-E8B5-9081-93F9-95D76B1107B7}"/>
              </a:ext>
            </a:extLst>
          </p:cNvPr>
          <p:cNvSpPr>
            <a:spLocks noGrp="1" noRot="1" noChangeAspect="1"/>
          </p:cNvSpPr>
          <p:nvPr>
            <p:ph type="sldImg" idx="2"/>
          </p:nvPr>
        </p:nvSpPr>
        <p:spPr>
          <a:xfrm>
            <a:off x="2190750" y="685800"/>
            <a:ext cx="24765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5130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589837" y="1780714"/>
            <a:ext cx="6684805" cy="378810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983062" y="5714904"/>
            <a:ext cx="5898355" cy="262698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3"/>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540688" y="579300"/>
            <a:ext cx="6783110" cy="21031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540688" y="2896491"/>
            <a:ext cx="6783110" cy="6903720"/>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536591" y="2712629"/>
            <a:ext cx="6783110" cy="452607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536591" y="7281527"/>
            <a:ext cx="6783110" cy="2380158"/>
          </a:xfrm>
          <a:prstGeom prst="rect">
            <a:avLst/>
          </a:prstGeom>
          <a:noFill/>
          <a:ln>
            <a:noFill/>
          </a:ln>
        </p:spPr>
        <p:txBody>
          <a:bodyPr spcFirstLastPara="1" wrap="square" lIns="91425" tIns="45700" rIns="91425" bIns="45700" anchor="t" anchorCtr="0">
            <a:normAutofit/>
          </a:bodyPr>
          <a:lstStyle>
            <a:lvl1pPr marL="457187" lvl="0" indent="-228593" algn="l">
              <a:lnSpc>
                <a:spcPct val="90000"/>
              </a:lnSpc>
              <a:spcBef>
                <a:spcPts val="750"/>
              </a:spcBef>
              <a:spcAft>
                <a:spcPts val="0"/>
              </a:spcAft>
              <a:buClr>
                <a:schemeClr val="dk1"/>
              </a:buClr>
              <a:buSzPts val="1800"/>
              <a:buNone/>
              <a:defRPr sz="1800">
                <a:solidFill>
                  <a:schemeClr val="dk1"/>
                </a:solidFill>
              </a:defRPr>
            </a:lvl1pPr>
            <a:lvl2pPr marL="914374" lvl="1" indent="-228593" algn="l">
              <a:lnSpc>
                <a:spcPct val="90000"/>
              </a:lnSpc>
              <a:spcBef>
                <a:spcPts val="375"/>
              </a:spcBef>
              <a:spcAft>
                <a:spcPts val="0"/>
              </a:spcAft>
              <a:buClr>
                <a:srgbClr val="888888"/>
              </a:buClr>
              <a:buSzPts val="1500"/>
              <a:buNone/>
              <a:defRPr sz="1500">
                <a:solidFill>
                  <a:srgbClr val="888888"/>
                </a:solidFill>
              </a:defRPr>
            </a:lvl2pPr>
            <a:lvl3pPr marL="1371561" lvl="2" indent="-228593" algn="l">
              <a:lnSpc>
                <a:spcPct val="90000"/>
              </a:lnSpc>
              <a:spcBef>
                <a:spcPts val="375"/>
              </a:spcBef>
              <a:spcAft>
                <a:spcPts val="0"/>
              </a:spcAft>
              <a:buClr>
                <a:srgbClr val="888888"/>
              </a:buClr>
              <a:buSzPts val="1350"/>
              <a:buNone/>
              <a:defRPr sz="1350">
                <a:solidFill>
                  <a:srgbClr val="888888"/>
                </a:solidFill>
              </a:defRPr>
            </a:lvl3pPr>
            <a:lvl4pPr marL="1828748" lvl="3" indent="-228593" algn="l">
              <a:lnSpc>
                <a:spcPct val="90000"/>
              </a:lnSpc>
              <a:spcBef>
                <a:spcPts val="375"/>
              </a:spcBef>
              <a:spcAft>
                <a:spcPts val="0"/>
              </a:spcAft>
              <a:buClr>
                <a:srgbClr val="888888"/>
              </a:buClr>
              <a:buSzPts val="1200"/>
              <a:buNone/>
              <a:defRPr sz="1200">
                <a:solidFill>
                  <a:srgbClr val="888888"/>
                </a:solidFill>
              </a:defRPr>
            </a:lvl4pPr>
            <a:lvl5pPr marL="2285935" lvl="4" indent="-228593" algn="l">
              <a:lnSpc>
                <a:spcPct val="90000"/>
              </a:lnSpc>
              <a:spcBef>
                <a:spcPts val="375"/>
              </a:spcBef>
              <a:spcAft>
                <a:spcPts val="0"/>
              </a:spcAft>
              <a:buClr>
                <a:srgbClr val="888888"/>
              </a:buClr>
              <a:buSzPts val="1200"/>
              <a:buNone/>
              <a:defRPr sz="1200">
                <a:solidFill>
                  <a:srgbClr val="888888"/>
                </a:solidFill>
              </a:defRPr>
            </a:lvl5pPr>
            <a:lvl6pPr marL="2743122" lvl="5" indent="-228593" algn="l">
              <a:lnSpc>
                <a:spcPct val="90000"/>
              </a:lnSpc>
              <a:spcBef>
                <a:spcPts val="375"/>
              </a:spcBef>
              <a:spcAft>
                <a:spcPts val="0"/>
              </a:spcAft>
              <a:buClr>
                <a:srgbClr val="888888"/>
              </a:buClr>
              <a:buSzPts val="1200"/>
              <a:buNone/>
              <a:defRPr sz="1200">
                <a:solidFill>
                  <a:srgbClr val="888888"/>
                </a:solidFill>
              </a:defRPr>
            </a:lvl6pPr>
            <a:lvl7pPr marL="3200309" lvl="6" indent="-228593" algn="l">
              <a:lnSpc>
                <a:spcPct val="90000"/>
              </a:lnSpc>
              <a:spcBef>
                <a:spcPts val="375"/>
              </a:spcBef>
              <a:spcAft>
                <a:spcPts val="0"/>
              </a:spcAft>
              <a:buClr>
                <a:srgbClr val="888888"/>
              </a:buClr>
              <a:buSzPts val="1200"/>
              <a:buNone/>
              <a:defRPr sz="1200">
                <a:solidFill>
                  <a:srgbClr val="888888"/>
                </a:solidFill>
              </a:defRPr>
            </a:lvl7pPr>
            <a:lvl8pPr marL="3657496" lvl="7" indent="-228593" algn="l">
              <a:lnSpc>
                <a:spcPct val="90000"/>
              </a:lnSpc>
              <a:spcBef>
                <a:spcPts val="375"/>
              </a:spcBef>
              <a:spcAft>
                <a:spcPts val="0"/>
              </a:spcAft>
              <a:buClr>
                <a:srgbClr val="888888"/>
              </a:buClr>
              <a:buSzPts val="1200"/>
              <a:buNone/>
              <a:defRPr sz="1200">
                <a:solidFill>
                  <a:srgbClr val="888888"/>
                </a:solidFill>
              </a:defRPr>
            </a:lvl8pPr>
            <a:lvl9pPr marL="4114683" lvl="8" indent="-228593"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6" name="Google Shape;26;p5"/>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540688" y="579300"/>
            <a:ext cx="6783110" cy="21031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540683" y="2896491"/>
            <a:ext cx="3342402" cy="6903720"/>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3981391" y="2896491"/>
            <a:ext cx="3342402" cy="6903720"/>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541711" y="579300"/>
            <a:ext cx="6783110" cy="21031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541708" y="2667292"/>
            <a:ext cx="3327041" cy="1307198"/>
          </a:xfrm>
          <a:prstGeom prst="rect">
            <a:avLst/>
          </a:prstGeom>
          <a:noFill/>
          <a:ln>
            <a:noFill/>
          </a:ln>
        </p:spPr>
        <p:txBody>
          <a:bodyPr spcFirstLastPara="1" wrap="square" lIns="91425" tIns="45700" rIns="91425" bIns="45700" anchor="b" anchorCtr="0">
            <a:normAutofit/>
          </a:bodyPr>
          <a:lstStyle>
            <a:lvl1pPr marL="457187" lvl="0" indent="-228593" algn="l">
              <a:lnSpc>
                <a:spcPct val="90000"/>
              </a:lnSpc>
              <a:spcBef>
                <a:spcPts val="750"/>
              </a:spcBef>
              <a:spcAft>
                <a:spcPts val="0"/>
              </a:spcAft>
              <a:buClr>
                <a:schemeClr val="dk1"/>
              </a:buClr>
              <a:buSzPts val="1800"/>
              <a:buNone/>
              <a:defRPr sz="1800" b="1"/>
            </a:lvl1pPr>
            <a:lvl2pPr marL="914374" lvl="1" indent="-228593" algn="l">
              <a:lnSpc>
                <a:spcPct val="90000"/>
              </a:lnSpc>
              <a:spcBef>
                <a:spcPts val="375"/>
              </a:spcBef>
              <a:spcAft>
                <a:spcPts val="0"/>
              </a:spcAft>
              <a:buClr>
                <a:schemeClr val="dk1"/>
              </a:buClr>
              <a:buSzPts val="1500"/>
              <a:buNone/>
              <a:defRPr sz="1500" b="1"/>
            </a:lvl2pPr>
            <a:lvl3pPr marL="1371561" lvl="2" indent="-228593" algn="l">
              <a:lnSpc>
                <a:spcPct val="90000"/>
              </a:lnSpc>
              <a:spcBef>
                <a:spcPts val="375"/>
              </a:spcBef>
              <a:spcAft>
                <a:spcPts val="0"/>
              </a:spcAft>
              <a:buClr>
                <a:schemeClr val="dk1"/>
              </a:buClr>
              <a:buSzPts val="1350"/>
              <a:buNone/>
              <a:defRPr sz="1350" b="1"/>
            </a:lvl3pPr>
            <a:lvl4pPr marL="1828748" lvl="3" indent="-228593" algn="l">
              <a:lnSpc>
                <a:spcPct val="90000"/>
              </a:lnSpc>
              <a:spcBef>
                <a:spcPts val="375"/>
              </a:spcBef>
              <a:spcAft>
                <a:spcPts val="0"/>
              </a:spcAft>
              <a:buClr>
                <a:schemeClr val="dk1"/>
              </a:buClr>
              <a:buSzPts val="1200"/>
              <a:buNone/>
              <a:defRPr sz="1200" b="1"/>
            </a:lvl4pPr>
            <a:lvl5pPr marL="2285935" lvl="4" indent="-228593" algn="l">
              <a:lnSpc>
                <a:spcPct val="90000"/>
              </a:lnSpc>
              <a:spcBef>
                <a:spcPts val="375"/>
              </a:spcBef>
              <a:spcAft>
                <a:spcPts val="0"/>
              </a:spcAft>
              <a:buClr>
                <a:schemeClr val="dk1"/>
              </a:buClr>
              <a:buSzPts val="1200"/>
              <a:buNone/>
              <a:defRPr sz="1200" b="1"/>
            </a:lvl5pPr>
            <a:lvl6pPr marL="2743122" lvl="5" indent="-228593" algn="l">
              <a:lnSpc>
                <a:spcPct val="90000"/>
              </a:lnSpc>
              <a:spcBef>
                <a:spcPts val="375"/>
              </a:spcBef>
              <a:spcAft>
                <a:spcPts val="0"/>
              </a:spcAft>
              <a:buClr>
                <a:schemeClr val="dk1"/>
              </a:buClr>
              <a:buSzPts val="1200"/>
              <a:buNone/>
              <a:defRPr sz="1200" b="1"/>
            </a:lvl6pPr>
            <a:lvl7pPr marL="3200309" lvl="6" indent="-228593" algn="l">
              <a:lnSpc>
                <a:spcPct val="90000"/>
              </a:lnSpc>
              <a:spcBef>
                <a:spcPts val="375"/>
              </a:spcBef>
              <a:spcAft>
                <a:spcPts val="0"/>
              </a:spcAft>
              <a:buClr>
                <a:schemeClr val="dk1"/>
              </a:buClr>
              <a:buSzPts val="1200"/>
              <a:buNone/>
              <a:defRPr sz="1200" b="1"/>
            </a:lvl7pPr>
            <a:lvl8pPr marL="3657496" lvl="7" indent="-228593" algn="l">
              <a:lnSpc>
                <a:spcPct val="90000"/>
              </a:lnSpc>
              <a:spcBef>
                <a:spcPts val="375"/>
              </a:spcBef>
              <a:spcAft>
                <a:spcPts val="0"/>
              </a:spcAft>
              <a:buClr>
                <a:schemeClr val="dk1"/>
              </a:buClr>
              <a:buSzPts val="1200"/>
              <a:buNone/>
              <a:defRPr sz="1200" b="1"/>
            </a:lvl8pPr>
            <a:lvl9pPr marL="4114683" lvl="8" indent="-228593" algn="l">
              <a:lnSpc>
                <a:spcPct val="90000"/>
              </a:lnSpc>
              <a:spcBef>
                <a:spcPts val="375"/>
              </a:spcBef>
              <a:spcAft>
                <a:spcPts val="0"/>
              </a:spcAft>
              <a:buClr>
                <a:schemeClr val="dk1"/>
              </a:buClr>
              <a:buSzPts val="1200"/>
              <a:buNone/>
              <a:defRPr sz="1200" b="1"/>
            </a:lvl9pPr>
          </a:lstStyle>
          <a:p>
            <a:endParaRPr/>
          </a:p>
        </p:txBody>
      </p:sp>
      <p:sp>
        <p:nvSpPr>
          <p:cNvPr id="39" name="Google Shape;39;p7"/>
          <p:cNvSpPr txBox="1">
            <a:spLocks noGrp="1"/>
          </p:cNvSpPr>
          <p:nvPr>
            <p:ph type="body" idx="2"/>
          </p:nvPr>
        </p:nvSpPr>
        <p:spPr>
          <a:xfrm>
            <a:off x="541708" y="3974487"/>
            <a:ext cx="3327041" cy="5845873"/>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3981395" y="2667292"/>
            <a:ext cx="3343426" cy="1307198"/>
          </a:xfrm>
          <a:prstGeom prst="rect">
            <a:avLst/>
          </a:prstGeom>
          <a:noFill/>
          <a:ln>
            <a:noFill/>
          </a:ln>
        </p:spPr>
        <p:txBody>
          <a:bodyPr spcFirstLastPara="1" wrap="square" lIns="91425" tIns="45700" rIns="91425" bIns="45700" anchor="b" anchorCtr="0">
            <a:normAutofit/>
          </a:bodyPr>
          <a:lstStyle>
            <a:lvl1pPr marL="457187" lvl="0" indent="-228593" algn="l">
              <a:lnSpc>
                <a:spcPct val="90000"/>
              </a:lnSpc>
              <a:spcBef>
                <a:spcPts val="750"/>
              </a:spcBef>
              <a:spcAft>
                <a:spcPts val="0"/>
              </a:spcAft>
              <a:buClr>
                <a:schemeClr val="dk1"/>
              </a:buClr>
              <a:buSzPts val="1800"/>
              <a:buNone/>
              <a:defRPr sz="1800" b="1"/>
            </a:lvl1pPr>
            <a:lvl2pPr marL="914374" lvl="1" indent="-228593" algn="l">
              <a:lnSpc>
                <a:spcPct val="90000"/>
              </a:lnSpc>
              <a:spcBef>
                <a:spcPts val="375"/>
              </a:spcBef>
              <a:spcAft>
                <a:spcPts val="0"/>
              </a:spcAft>
              <a:buClr>
                <a:schemeClr val="dk1"/>
              </a:buClr>
              <a:buSzPts val="1500"/>
              <a:buNone/>
              <a:defRPr sz="1500" b="1"/>
            </a:lvl2pPr>
            <a:lvl3pPr marL="1371561" lvl="2" indent="-228593" algn="l">
              <a:lnSpc>
                <a:spcPct val="90000"/>
              </a:lnSpc>
              <a:spcBef>
                <a:spcPts val="375"/>
              </a:spcBef>
              <a:spcAft>
                <a:spcPts val="0"/>
              </a:spcAft>
              <a:buClr>
                <a:schemeClr val="dk1"/>
              </a:buClr>
              <a:buSzPts val="1350"/>
              <a:buNone/>
              <a:defRPr sz="1350" b="1"/>
            </a:lvl3pPr>
            <a:lvl4pPr marL="1828748" lvl="3" indent="-228593" algn="l">
              <a:lnSpc>
                <a:spcPct val="90000"/>
              </a:lnSpc>
              <a:spcBef>
                <a:spcPts val="375"/>
              </a:spcBef>
              <a:spcAft>
                <a:spcPts val="0"/>
              </a:spcAft>
              <a:buClr>
                <a:schemeClr val="dk1"/>
              </a:buClr>
              <a:buSzPts val="1200"/>
              <a:buNone/>
              <a:defRPr sz="1200" b="1"/>
            </a:lvl4pPr>
            <a:lvl5pPr marL="2285935" lvl="4" indent="-228593" algn="l">
              <a:lnSpc>
                <a:spcPct val="90000"/>
              </a:lnSpc>
              <a:spcBef>
                <a:spcPts val="375"/>
              </a:spcBef>
              <a:spcAft>
                <a:spcPts val="0"/>
              </a:spcAft>
              <a:buClr>
                <a:schemeClr val="dk1"/>
              </a:buClr>
              <a:buSzPts val="1200"/>
              <a:buNone/>
              <a:defRPr sz="1200" b="1"/>
            </a:lvl5pPr>
            <a:lvl6pPr marL="2743122" lvl="5" indent="-228593" algn="l">
              <a:lnSpc>
                <a:spcPct val="90000"/>
              </a:lnSpc>
              <a:spcBef>
                <a:spcPts val="375"/>
              </a:spcBef>
              <a:spcAft>
                <a:spcPts val="0"/>
              </a:spcAft>
              <a:buClr>
                <a:schemeClr val="dk1"/>
              </a:buClr>
              <a:buSzPts val="1200"/>
              <a:buNone/>
              <a:defRPr sz="1200" b="1"/>
            </a:lvl6pPr>
            <a:lvl7pPr marL="3200309" lvl="6" indent="-228593" algn="l">
              <a:lnSpc>
                <a:spcPct val="90000"/>
              </a:lnSpc>
              <a:spcBef>
                <a:spcPts val="375"/>
              </a:spcBef>
              <a:spcAft>
                <a:spcPts val="0"/>
              </a:spcAft>
              <a:buClr>
                <a:schemeClr val="dk1"/>
              </a:buClr>
              <a:buSzPts val="1200"/>
              <a:buNone/>
              <a:defRPr sz="1200" b="1"/>
            </a:lvl7pPr>
            <a:lvl8pPr marL="3657496" lvl="7" indent="-228593" algn="l">
              <a:lnSpc>
                <a:spcPct val="90000"/>
              </a:lnSpc>
              <a:spcBef>
                <a:spcPts val="375"/>
              </a:spcBef>
              <a:spcAft>
                <a:spcPts val="0"/>
              </a:spcAft>
              <a:buClr>
                <a:schemeClr val="dk1"/>
              </a:buClr>
              <a:buSzPts val="1200"/>
              <a:buNone/>
              <a:defRPr sz="1200" b="1"/>
            </a:lvl8pPr>
            <a:lvl9pPr marL="4114683" lvl="8" indent="-228593" algn="l">
              <a:lnSpc>
                <a:spcPct val="90000"/>
              </a:lnSpc>
              <a:spcBef>
                <a:spcPts val="375"/>
              </a:spcBef>
              <a:spcAft>
                <a:spcPts val="0"/>
              </a:spcAft>
              <a:buClr>
                <a:schemeClr val="dk1"/>
              </a:buClr>
              <a:buSzPts val="1200"/>
              <a:buNone/>
              <a:defRPr sz="1200" b="1"/>
            </a:lvl9pPr>
          </a:lstStyle>
          <a:p>
            <a:endParaRPr/>
          </a:p>
        </p:txBody>
      </p:sp>
      <p:sp>
        <p:nvSpPr>
          <p:cNvPr id="41" name="Google Shape;41;p7"/>
          <p:cNvSpPr txBox="1">
            <a:spLocks noGrp="1"/>
          </p:cNvSpPr>
          <p:nvPr>
            <p:ph type="body" idx="4"/>
          </p:nvPr>
        </p:nvSpPr>
        <p:spPr>
          <a:xfrm>
            <a:off x="3981395" y="3974487"/>
            <a:ext cx="3343426" cy="5845873"/>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540688" y="579300"/>
            <a:ext cx="6783110" cy="21031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541707" y="725382"/>
            <a:ext cx="2536499" cy="25388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343430" y="1566626"/>
            <a:ext cx="3981391" cy="7732368"/>
          </a:xfrm>
          <a:prstGeom prst="rect">
            <a:avLst/>
          </a:prstGeom>
          <a:noFill/>
          <a:ln>
            <a:noFill/>
          </a:ln>
        </p:spPr>
        <p:txBody>
          <a:bodyPr spcFirstLastPara="1" wrap="square" lIns="91425" tIns="45700" rIns="91425" bIns="45700" anchor="t" anchorCtr="0">
            <a:normAutofit/>
          </a:bodyPr>
          <a:lstStyle>
            <a:lvl1pPr marL="457187" lvl="0" indent="-380989" algn="l">
              <a:lnSpc>
                <a:spcPct val="90000"/>
              </a:lnSpc>
              <a:spcBef>
                <a:spcPts val="750"/>
              </a:spcBef>
              <a:spcAft>
                <a:spcPts val="0"/>
              </a:spcAft>
              <a:buClr>
                <a:schemeClr val="dk1"/>
              </a:buClr>
              <a:buSzPts val="2400"/>
              <a:buChar char="•"/>
              <a:defRPr sz="2400"/>
            </a:lvl1pPr>
            <a:lvl2pPr marL="914374" lvl="1" indent="-361940" algn="l">
              <a:lnSpc>
                <a:spcPct val="90000"/>
              </a:lnSpc>
              <a:spcBef>
                <a:spcPts val="375"/>
              </a:spcBef>
              <a:spcAft>
                <a:spcPts val="0"/>
              </a:spcAft>
              <a:buClr>
                <a:schemeClr val="dk1"/>
              </a:buClr>
              <a:buSzPts val="2100"/>
              <a:buChar char="•"/>
              <a:defRPr sz="2100"/>
            </a:lvl2pPr>
            <a:lvl3pPr marL="1371561" lvl="2" indent="-342890" algn="l">
              <a:lnSpc>
                <a:spcPct val="90000"/>
              </a:lnSpc>
              <a:spcBef>
                <a:spcPts val="375"/>
              </a:spcBef>
              <a:spcAft>
                <a:spcPts val="0"/>
              </a:spcAft>
              <a:buClr>
                <a:schemeClr val="dk1"/>
              </a:buClr>
              <a:buSzPts val="1800"/>
              <a:buChar char="•"/>
              <a:defRPr sz="1800"/>
            </a:lvl3pPr>
            <a:lvl4pPr marL="1828748" lvl="3" indent="-323840" algn="l">
              <a:lnSpc>
                <a:spcPct val="90000"/>
              </a:lnSpc>
              <a:spcBef>
                <a:spcPts val="375"/>
              </a:spcBef>
              <a:spcAft>
                <a:spcPts val="0"/>
              </a:spcAft>
              <a:buClr>
                <a:schemeClr val="dk1"/>
              </a:buClr>
              <a:buSzPts val="1500"/>
              <a:buChar char="•"/>
              <a:defRPr sz="1500"/>
            </a:lvl4pPr>
            <a:lvl5pPr marL="2285935" lvl="4" indent="-323840" algn="l">
              <a:lnSpc>
                <a:spcPct val="90000"/>
              </a:lnSpc>
              <a:spcBef>
                <a:spcPts val="375"/>
              </a:spcBef>
              <a:spcAft>
                <a:spcPts val="0"/>
              </a:spcAft>
              <a:buClr>
                <a:schemeClr val="dk1"/>
              </a:buClr>
              <a:buSzPts val="1500"/>
              <a:buChar char="•"/>
              <a:defRPr sz="1500"/>
            </a:lvl5pPr>
            <a:lvl6pPr marL="2743122" lvl="5" indent="-323840" algn="l">
              <a:lnSpc>
                <a:spcPct val="90000"/>
              </a:lnSpc>
              <a:spcBef>
                <a:spcPts val="375"/>
              </a:spcBef>
              <a:spcAft>
                <a:spcPts val="0"/>
              </a:spcAft>
              <a:buClr>
                <a:schemeClr val="dk1"/>
              </a:buClr>
              <a:buSzPts val="1500"/>
              <a:buChar char="•"/>
              <a:defRPr sz="1500"/>
            </a:lvl6pPr>
            <a:lvl7pPr marL="3200309" lvl="6" indent="-323840" algn="l">
              <a:lnSpc>
                <a:spcPct val="90000"/>
              </a:lnSpc>
              <a:spcBef>
                <a:spcPts val="375"/>
              </a:spcBef>
              <a:spcAft>
                <a:spcPts val="0"/>
              </a:spcAft>
              <a:buClr>
                <a:schemeClr val="dk1"/>
              </a:buClr>
              <a:buSzPts val="1500"/>
              <a:buChar char="•"/>
              <a:defRPr sz="1500"/>
            </a:lvl7pPr>
            <a:lvl8pPr marL="3657496" lvl="7" indent="-323840" algn="l">
              <a:lnSpc>
                <a:spcPct val="90000"/>
              </a:lnSpc>
              <a:spcBef>
                <a:spcPts val="375"/>
              </a:spcBef>
              <a:spcAft>
                <a:spcPts val="0"/>
              </a:spcAft>
              <a:buClr>
                <a:schemeClr val="dk1"/>
              </a:buClr>
              <a:buSzPts val="1500"/>
              <a:buChar char="•"/>
              <a:defRPr sz="1500"/>
            </a:lvl8pPr>
            <a:lvl9pPr marL="4114683" lvl="8" indent="-323840" algn="l">
              <a:lnSpc>
                <a:spcPct val="90000"/>
              </a:lnSpc>
              <a:spcBef>
                <a:spcPts val="375"/>
              </a:spcBef>
              <a:spcAft>
                <a:spcPts val="0"/>
              </a:spcAft>
              <a:buClr>
                <a:schemeClr val="dk1"/>
              </a:buClr>
              <a:buSzPts val="1500"/>
              <a:buChar char="•"/>
              <a:defRPr sz="1500"/>
            </a:lvl9pPr>
          </a:lstStyle>
          <a:p>
            <a:endParaRPr/>
          </a:p>
        </p:txBody>
      </p:sp>
      <p:sp>
        <p:nvSpPr>
          <p:cNvPr id="57" name="Google Shape;57;p10"/>
          <p:cNvSpPr txBox="1">
            <a:spLocks noGrp="1"/>
          </p:cNvSpPr>
          <p:nvPr>
            <p:ph type="body" idx="2"/>
          </p:nvPr>
        </p:nvSpPr>
        <p:spPr>
          <a:xfrm>
            <a:off x="541707" y="3264218"/>
            <a:ext cx="2536499" cy="6047367"/>
          </a:xfrm>
          <a:prstGeom prst="rect">
            <a:avLst/>
          </a:prstGeom>
          <a:noFill/>
          <a:ln>
            <a:noFill/>
          </a:ln>
        </p:spPr>
        <p:txBody>
          <a:bodyPr spcFirstLastPara="1" wrap="square" lIns="91425" tIns="45700" rIns="91425" bIns="45700" anchor="t" anchorCtr="0">
            <a:normAutofit/>
          </a:bodyPr>
          <a:lstStyle>
            <a:lvl1pPr marL="457187" lvl="0" indent="-228593" algn="l">
              <a:lnSpc>
                <a:spcPct val="90000"/>
              </a:lnSpc>
              <a:spcBef>
                <a:spcPts val="750"/>
              </a:spcBef>
              <a:spcAft>
                <a:spcPts val="0"/>
              </a:spcAft>
              <a:buClr>
                <a:schemeClr val="dk1"/>
              </a:buClr>
              <a:buSzPts val="1200"/>
              <a:buNone/>
              <a:defRPr sz="1200"/>
            </a:lvl1pPr>
            <a:lvl2pPr marL="914374" lvl="1" indent="-228593" algn="l">
              <a:lnSpc>
                <a:spcPct val="90000"/>
              </a:lnSpc>
              <a:spcBef>
                <a:spcPts val="375"/>
              </a:spcBef>
              <a:spcAft>
                <a:spcPts val="0"/>
              </a:spcAft>
              <a:buClr>
                <a:schemeClr val="dk1"/>
              </a:buClr>
              <a:buSzPts val="1050"/>
              <a:buNone/>
              <a:defRPr sz="1050"/>
            </a:lvl2pPr>
            <a:lvl3pPr marL="1371561" lvl="2" indent="-228593" algn="l">
              <a:lnSpc>
                <a:spcPct val="90000"/>
              </a:lnSpc>
              <a:spcBef>
                <a:spcPts val="375"/>
              </a:spcBef>
              <a:spcAft>
                <a:spcPts val="0"/>
              </a:spcAft>
              <a:buClr>
                <a:schemeClr val="dk1"/>
              </a:buClr>
              <a:buSzPts val="900"/>
              <a:buNone/>
              <a:defRPr sz="900"/>
            </a:lvl3pPr>
            <a:lvl4pPr marL="1828748" lvl="3" indent="-228593" algn="l">
              <a:lnSpc>
                <a:spcPct val="90000"/>
              </a:lnSpc>
              <a:spcBef>
                <a:spcPts val="375"/>
              </a:spcBef>
              <a:spcAft>
                <a:spcPts val="0"/>
              </a:spcAft>
              <a:buClr>
                <a:schemeClr val="dk1"/>
              </a:buClr>
              <a:buSzPts val="750"/>
              <a:buNone/>
              <a:defRPr sz="750"/>
            </a:lvl4pPr>
            <a:lvl5pPr marL="2285935" lvl="4" indent="-228593" algn="l">
              <a:lnSpc>
                <a:spcPct val="90000"/>
              </a:lnSpc>
              <a:spcBef>
                <a:spcPts val="375"/>
              </a:spcBef>
              <a:spcAft>
                <a:spcPts val="0"/>
              </a:spcAft>
              <a:buClr>
                <a:schemeClr val="dk1"/>
              </a:buClr>
              <a:buSzPts val="750"/>
              <a:buNone/>
              <a:defRPr sz="750"/>
            </a:lvl5pPr>
            <a:lvl6pPr marL="2743122" lvl="5" indent="-228593" algn="l">
              <a:lnSpc>
                <a:spcPct val="90000"/>
              </a:lnSpc>
              <a:spcBef>
                <a:spcPts val="375"/>
              </a:spcBef>
              <a:spcAft>
                <a:spcPts val="0"/>
              </a:spcAft>
              <a:buClr>
                <a:schemeClr val="dk1"/>
              </a:buClr>
              <a:buSzPts val="750"/>
              <a:buNone/>
              <a:defRPr sz="750"/>
            </a:lvl6pPr>
            <a:lvl7pPr marL="3200309" lvl="6" indent="-228593" algn="l">
              <a:lnSpc>
                <a:spcPct val="90000"/>
              </a:lnSpc>
              <a:spcBef>
                <a:spcPts val="375"/>
              </a:spcBef>
              <a:spcAft>
                <a:spcPts val="0"/>
              </a:spcAft>
              <a:buClr>
                <a:schemeClr val="dk1"/>
              </a:buClr>
              <a:buSzPts val="750"/>
              <a:buNone/>
              <a:defRPr sz="750"/>
            </a:lvl7pPr>
            <a:lvl8pPr marL="3657496" lvl="7" indent="-228593" algn="l">
              <a:lnSpc>
                <a:spcPct val="90000"/>
              </a:lnSpc>
              <a:spcBef>
                <a:spcPts val="375"/>
              </a:spcBef>
              <a:spcAft>
                <a:spcPts val="0"/>
              </a:spcAft>
              <a:buClr>
                <a:schemeClr val="dk1"/>
              </a:buClr>
              <a:buSzPts val="750"/>
              <a:buNone/>
              <a:defRPr sz="750"/>
            </a:lvl8pPr>
            <a:lvl9pPr marL="4114683" lvl="8" indent="-228593" algn="l">
              <a:lnSpc>
                <a:spcPct val="90000"/>
              </a:lnSpc>
              <a:spcBef>
                <a:spcPts val="375"/>
              </a:spcBef>
              <a:spcAft>
                <a:spcPts val="0"/>
              </a:spcAft>
              <a:buClr>
                <a:schemeClr val="dk1"/>
              </a:buClr>
              <a:buSzPts val="750"/>
              <a:buNone/>
              <a:defRPr sz="750"/>
            </a:lvl9pPr>
          </a:lstStyle>
          <a:p>
            <a:endParaRPr/>
          </a:p>
        </p:txBody>
      </p:sp>
      <p:sp>
        <p:nvSpPr>
          <p:cNvPr id="58" name="Google Shape;58;p10"/>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541707" y="725382"/>
            <a:ext cx="2536499" cy="25388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3343430" y="1566626"/>
            <a:ext cx="3981391" cy="7732368"/>
          </a:xfrm>
          <a:prstGeom prst="rect">
            <a:avLst/>
          </a:prstGeom>
          <a:noFill/>
          <a:ln>
            <a:noFill/>
          </a:ln>
        </p:spPr>
      </p:sp>
      <p:sp>
        <p:nvSpPr>
          <p:cNvPr id="64" name="Google Shape;64;p11"/>
          <p:cNvSpPr txBox="1">
            <a:spLocks noGrp="1"/>
          </p:cNvSpPr>
          <p:nvPr>
            <p:ph type="body" idx="1"/>
          </p:nvPr>
        </p:nvSpPr>
        <p:spPr>
          <a:xfrm>
            <a:off x="541707" y="3264218"/>
            <a:ext cx="2536499" cy="6047367"/>
          </a:xfrm>
          <a:prstGeom prst="rect">
            <a:avLst/>
          </a:prstGeom>
          <a:noFill/>
          <a:ln>
            <a:noFill/>
          </a:ln>
        </p:spPr>
        <p:txBody>
          <a:bodyPr spcFirstLastPara="1" wrap="square" lIns="91425" tIns="45700" rIns="91425" bIns="45700" anchor="t" anchorCtr="0">
            <a:normAutofit/>
          </a:bodyPr>
          <a:lstStyle>
            <a:lvl1pPr marL="457187" lvl="0" indent="-228593" algn="l">
              <a:lnSpc>
                <a:spcPct val="90000"/>
              </a:lnSpc>
              <a:spcBef>
                <a:spcPts val="750"/>
              </a:spcBef>
              <a:spcAft>
                <a:spcPts val="0"/>
              </a:spcAft>
              <a:buClr>
                <a:schemeClr val="dk1"/>
              </a:buClr>
              <a:buSzPts val="1200"/>
              <a:buNone/>
              <a:defRPr sz="1200"/>
            </a:lvl1pPr>
            <a:lvl2pPr marL="914374" lvl="1" indent="-228593" algn="l">
              <a:lnSpc>
                <a:spcPct val="90000"/>
              </a:lnSpc>
              <a:spcBef>
                <a:spcPts val="375"/>
              </a:spcBef>
              <a:spcAft>
                <a:spcPts val="0"/>
              </a:spcAft>
              <a:buClr>
                <a:schemeClr val="dk1"/>
              </a:buClr>
              <a:buSzPts val="1050"/>
              <a:buNone/>
              <a:defRPr sz="1050"/>
            </a:lvl2pPr>
            <a:lvl3pPr marL="1371561" lvl="2" indent="-228593" algn="l">
              <a:lnSpc>
                <a:spcPct val="90000"/>
              </a:lnSpc>
              <a:spcBef>
                <a:spcPts val="375"/>
              </a:spcBef>
              <a:spcAft>
                <a:spcPts val="0"/>
              </a:spcAft>
              <a:buClr>
                <a:schemeClr val="dk1"/>
              </a:buClr>
              <a:buSzPts val="900"/>
              <a:buNone/>
              <a:defRPr sz="900"/>
            </a:lvl3pPr>
            <a:lvl4pPr marL="1828748" lvl="3" indent="-228593" algn="l">
              <a:lnSpc>
                <a:spcPct val="90000"/>
              </a:lnSpc>
              <a:spcBef>
                <a:spcPts val="375"/>
              </a:spcBef>
              <a:spcAft>
                <a:spcPts val="0"/>
              </a:spcAft>
              <a:buClr>
                <a:schemeClr val="dk1"/>
              </a:buClr>
              <a:buSzPts val="750"/>
              <a:buNone/>
              <a:defRPr sz="750"/>
            </a:lvl4pPr>
            <a:lvl5pPr marL="2285935" lvl="4" indent="-228593" algn="l">
              <a:lnSpc>
                <a:spcPct val="90000"/>
              </a:lnSpc>
              <a:spcBef>
                <a:spcPts val="375"/>
              </a:spcBef>
              <a:spcAft>
                <a:spcPts val="0"/>
              </a:spcAft>
              <a:buClr>
                <a:schemeClr val="dk1"/>
              </a:buClr>
              <a:buSzPts val="750"/>
              <a:buNone/>
              <a:defRPr sz="750"/>
            </a:lvl5pPr>
            <a:lvl6pPr marL="2743122" lvl="5" indent="-228593" algn="l">
              <a:lnSpc>
                <a:spcPct val="90000"/>
              </a:lnSpc>
              <a:spcBef>
                <a:spcPts val="375"/>
              </a:spcBef>
              <a:spcAft>
                <a:spcPts val="0"/>
              </a:spcAft>
              <a:buClr>
                <a:schemeClr val="dk1"/>
              </a:buClr>
              <a:buSzPts val="750"/>
              <a:buNone/>
              <a:defRPr sz="750"/>
            </a:lvl6pPr>
            <a:lvl7pPr marL="3200309" lvl="6" indent="-228593" algn="l">
              <a:lnSpc>
                <a:spcPct val="90000"/>
              </a:lnSpc>
              <a:spcBef>
                <a:spcPts val="375"/>
              </a:spcBef>
              <a:spcAft>
                <a:spcPts val="0"/>
              </a:spcAft>
              <a:buClr>
                <a:schemeClr val="dk1"/>
              </a:buClr>
              <a:buSzPts val="750"/>
              <a:buNone/>
              <a:defRPr sz="750"/>
            </a:lvl7pPr>
            <a:lvl8pPr marL="3657496" lvl="7" indent="-228593" algn="l">
              <a:lnSpc>
                <a:spcPct val="90000"/>
              </a:lnSpc>
              <a:spcBef>
                <a:spcPts val="375"/>
              </a:spcBef>
              <a:spcAft>
                <a:spcPts val="0"/>
              </a:spcAft>
              <a:buClr>
                <a:schemeClr val="dk1"/>
              </a:buClr>
              <a:buSzPts val="750"/>
              <a:buNone/>
              <a:defRPr sz="750"/>
            </a:lvl8pPr>
            <a:lvl9pPr marL="4114683" lvl="8" indent="-228593" algn="l">
              <a:lnSpc>
                <a:spcPct val="90000"/>
              </a:lnSpc>
              <a:spcBef>
                <a:spcPts val="375"/>
              </a:spcBef>
              <a:spcAft>
                <a:spcPts val="0"/>
              </a:spcAft>
              <a:buClr>
                <a:schemeClr val="dk1"/>
              </a:buClr>
              <a:buSzPts val="750"/>
              <a:buNone/>
              <a:defRPr sz="750"/>
            </a:lvl9pPr>
          </a:lstStyle>
          <a:p>
            <a:endParaRPr/>
          </a:p>
        </p:txBody>
      </p:sp>
      <p:sp>
        <p:nvSpPr>
          <p:cNvPr id="65" name="Google Shape;65;p11"/>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540688" y="579300"/>
            <a:ext cx="6783110" cy="21031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480381" y="2956799"/>
            <a:ext cx="6903720" cy="6783110"/>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865452" y="4341867"/>
            <a:ext cx="9220912" cy="16957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575260" y="2695242"/>
            <a:ext cx="9220912" cy="4989026"/>
          </a:xfrm>
          <a:prstGeom prst="rect">
            <a:avLst/>
          </a:prstGeom>
          <a:noFill/>
          <a:ln>
            <a:noFill/>
          </a:ln>
        </p:spPr>
        <p:txBody>
          <a:bodyPr spcFirstLastPara="1" wrap="square" lIns="91425" tIns="45700" rIns="91425" bIns="45700" anchor="t" anchorCtr="0">
            <a:normAutofit/>
          </a:bodyPr>
          <a:lstStyle>
            <a:lvl1pPr marL="457187" lvl="0" indent="-342890" algn="l">
              <a:lnSpc>
                <a:spcPct val="90000"/>
              </a:lnSpc>
              <a:spcBef>
                <a:spcPts val="750"/>
              </a:spcBef>
              <a:spcAft>
                <a:spcPts val="0"/>
              </a:spcAft>
              <a:buClr>
                <a:schemeClr val="dk1"/>
              </a:buClr>
              <a:buSzPts val="1800"/>
              <a:buChar char="•"/>
              <a:defRPr/>
            </a:lvl1pPr>
            <a:lvl2pPr marL="914374" lvl="1" indent="-342890" algn="l">
              <a:lnSpc>
                <a:spcPct val="90000"/>
              </a:lnSpc>
              <a:spcBef>
                <a:spcPts val="375"/>
              </a:spcBef>
              <a:spcAft>
                <a:spcPts val="0"/>
              </a:spcAft>
              <a:buClr>
                <a:schemeClr val="dk1"/>
              </a:buClr>
              <a:buSzPts val="1800"/>
              <a:buChar char="•"/>
              <a:defRPr/>
            </a:lvl2pPr>
            <a:lvl3pPr marL="1371561" lvl="2" indent="-342890" algn="l">
              <a:lnSpc>
                <a:spcPct val="90000"/>
              </a:lnSpc>
              <a:spcBef>
                <a:spcPts val="375"/>
              </a:spcBef>
              <a:spcAft>
                <a:spcPts val="0"/>
              </a:spcAft>
              <a:buClr>
                <a:schemeClr val="dk1"/>
              </a:buClr>
              <a:buSzPts val="1800"/>
              <a:buChar char="•"/>
              <a:defRPr/>
            </a:lvl3pPr>
            <a:lvl4pPr marL="1828748" lvl="3" indent="-342890" algn="l">
              <a:lnSpc>
                <a:spcPct val="90000"/>
              </a:lnSpc>
              <a:spcBef>
                <a:spcPts val="375"/>
              </a:spcBef>
              <a:spcAft>
                <a:spcPts val="0"/>
              </a:spcAft>
              <a:buClr>
                <a:schemeClr val="dk1"/>
              </a:buClr>
              <a:buSzPts val="1800"/>
              <a:buChar char="•"/>
              <a:defRPr/>
            </a:lvl4pPr>
            <a:lvl5pPr marL="2285935" lvl="4" indent="-342890" algn="l">
              <a:lnSpc>
                <a:spcPct val="90000"/>
              </a:lnSpc>
              <a:spcBef>
                <a:spcPts val="375"/>
              </a:spcBef>
              <a:spcAft>
                <a:spcPts val="0"/>
              </a:spcAft>
              <a:buClr>
                <a:schemeClr val="dk1"/>
              </a:buClr>
              <a:buSzPts val="1800"/>
              <a:buChar char="•"/>
              <a:defRPr/>
            </a:lvl5pPr>
            <a:lvl6pPr marL="2743122" lvl="5" indent="-342890" algn="l">
              <a:lnSpc>
                <a:spcPct val="90000"/>
              </a:lnSpc>
              <a:spcBef>
                <a:spcPts val="375"/>
              </a:spcBef>
              <a:spcAft>
                <a:spcPts val="0"/>
              </a:spcAft>
              <a:buClr>
                <a:schemeClr val="dk1"/>
              </a:buClr>
              <a:buSzPts val="1800"/>
              <a:buChar char="•"/>
              <a:defRPr/>
            </a:lvl6pPr>
            <a:lvl7pPr marL="3200309" lvl="6" indent="-342890" algn="l">
              <a:lnSpc>
                <a:spcPct val="90000"/>
              </a:lnSpc>
              <a:spcBef>
                <a:spcPts val="375"/>
              </a:spcBef>
              <a:spcAft>
                <a:spcPts val="0"/>
              </a:spcAft>
              <a:buClr>
                <a:schemeClr val="dk1"/>
              </a:buClr>
              <a:buSzPts val="1800"/>
              <a:buChar char="•"/>
              <a:defRPr/>
            </a:lvl7pPr>
            <a:lvl8pPr marL="3657496" lvl="7" indent="-342890" algn="l">
              <a:lnSpc>
                <a:spcPct val="90000"/>
              </a:lnSpc>
              <a:spcBef>
                <a:spcPts val="375"/>
              </a:spcBef>
              <a:spcAft>
                <a:spcPts val="0"/>
              </a:spcAft>
              <a:buClr>
                <a:schemeClr val="dk1"/>
              </a:buClr>
              <a:buSzPts val="1800"/>
              <a:buChar char="•"/>
              <a:defRPr/>
            </a:lvl8pPr>
            <a:lvl9pPr marL="4114683" lvl="8" indent="-342890" algn="l">
              <a:lnSpc>
                <a:spcPct val="90000"/>
              </a:lnSpc>
              <a:spcBef>
                <a:spcPts val="375"/>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540688" y="579300"/>
            <a:ext cx="6783110" cy="210310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540688" y="2896491"/>
            <a:ext cx="6783110" cy="690372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540684" y="10084824"/>
            <a:ext cx="1769507" cy="579298"/>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2605113" y="10084824"/>
            <a:ext cx="2654260" cy="579298"/>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5554287" y="10084824"/>
            <a:ext cx="1769507" cy="57929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hyperlink" Target="http://www.vlsi-soc.com/" TargetMode="External"/><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jpg"/><Relationship Id="rId11" Type="http://schemas.openxmlformats.org/officeDocument/2006/relationships/image" Target="../media/image8.png"/><Relationship Id="rId5" Type="http://schemas.openxmlformats.org/officeDocument/2006/relationships/image" Target="../media/image2.jp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image" Target="../media/image1.jpg"/><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7.png"/><Relationship Id="rId3" Type="http://schemas.openxmlformats.org/officeDocument/2006/relationships/hyperlink" Target="http://www.vlsi-soc.com/" TargetMode="External"/><Relationship Id="rId21" Type="http://schemas.openxmlformats.org/officeDocument/2006/relationships/image" Target="../media/image20.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6.png"/><Relationship Id="rId2" Type="http://schemas.openxmlformats.org/officeDocument/2006/relationships/notesSlide" Target="../notesSlides/notesSlide2.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3.jpg"/><Relationship Id="rId10" Type="http://schemas.openxmlformats.org/officeDocument/2006/relationships/image" Target="../media/image11.png"/><Relationship Id="rId19" Type="http://schemas.openxmlformats.org/officeDocument/2006/relationships/image" Target="../media/image18.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jpg"/><Relationship Id="rId22" Type="http://schemas.openxmlformats.org/officeDocument/2006/relationships/image" Target="../media/image21.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jp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3.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jpg"/><Relationship Id="rId11" Type="http://schemas.openxmlformats.org/officeDocument/2006/relationships/image" Target="../media/image8.png"/><Relationship Id="rId5" Type="http://schemas.openxmlformats.org/officeDocument/2006/relationships/image" Target="../media/image2.jp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hyperlink" Target="http://www.vlsi-soc.com/" TargetMode="External"/><Relationship Id="rId9" Type="http://schemas.openxmlformats.org/officeDocument/2006/relationships/image" Target="../media/image6.png"/><Relationship Id="rId1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9.png"/><Relationship Id="rId3" Type="http://schemas.openxmlformats.org/officeDocument/2006/relationships/image" Target="../media/image1.jpg"/><Relationship Id="rId21" Type="http://schemas.openxmlformats.org/officeDocument/2006/relationships/image" Target="../media/image12.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8.png"/><Relationship Id="rId2" Type="http://schemas.openxmlformats.org/officeDocument/2006/relationships/notesSlide" Target="../notesSlides/notesSlide4.xml"/><Relationship Id="rId16" Type="http://schemas.openxmlformats.org/officeDocument/2006/relationships/image" Target="../media/image7.png"/><Relationship Id="rId20"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hyperlink" Target="http://www.vlsi-soc.com/" TargetMode="External"/><Relationship Id="rId15" Type="http://schemas.openxmlformats.org/officeDocument/2006/relationships/image" Target="../media/image6.png"/><Relationship Id="rId10" Type="http://schemas.openxmlformats.org/officeDocument/2006/relationships/image" Target="../media/image18.png"/><Relationship Id="rId19" Type="http://schemas.openxmlformats.org/officeDocument/2006/relationships/image" Target="../media/image10.png"/><Relationship Id="rId4" Type="http://schemas.openxmlformats.org/officeDocument/2006/relationships/image" Target="../media/image3.jpg"/><Relationship Id="rId9" Type="http://schemas.openxmlformats.org/officeDocument/2006/relationships/image" Target="../media/image17.png"/><Relationship Id="rId14" Type="http://schemas.openxmlformats.org/officeDocument/2006/relationships/image" Target="../media/image5.png"/><Relationship Id="rId2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90A0C321-2478-347B-8AC2-0C746438D70B}"/>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803AC9D8-00AA-9D8D-1739-F1EAFA817EC6}"/>
              </a:ext>
            </a:extLst>
          </p:cNvPr>
          <p:cNvSpPr/>
          <p:nvPr/>
        </p:nvSpPr>
        <p:spPr>
          <a:xfrm>
            <a:off x="152401" y="64059"/>
            <a:ext cx="7559675" cy="1283899"/>
          </a:xfrm>
          <a:prstGeom prst="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2" name="Rectangle 6">
            <a:extLst>
              <a:ext uri="{FF2B5EF4-FFF2-40B4-BE49-F238E27FC236}">
                <a16:creationId xmlns:a16="http://schemas.microsoft.com/office/drawing/2014/main" id="{BEEC40CC-E2E6-68C6-751D-BC877E8E5FFC}"/>
              </a:ext>
            </a:extLst>
          </p:cNvPr>
          <p:cNvSpPr>
            <a:spLocks noChangeArrowheads="1"/>
          </p:cNvSpPr>
          <p:nvPr/>
        </p:nvSpPr>
        <p:spPr bwMode="auto">
          <a:xfrm>
            <a:off x="152402" y="7741255"/>
            <a:ext cx="4628343" cy="3016210"/>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r>
              <a:rPr lang="en-US" sz="1000" b="1" dirty="0"/>
              <a:t>General Co-Chairs:</a:t>
            </a:r>
            <a:r>
              <a:rPr lang="en-US" sz="1000" dirty="0"/>
              <a:t> </a:t>
            </a:r>
          </a:p>
          <a:p>
            <a:pPr marL="171450" indent="-171450">
              <a:buFont typeface="Arial" panose="020B0604020202020204" pitchFamily="34" charset="0"/>
              <a:buChar char="•"/>
            </a:pPr>
            <a:r>
              <a:rPr lang="en-US" sz="1000" dirty="0"/>
              <a:t>Tiziana Margaria (Univ. of Limerick, IE), </a:t>
            </a:r>
          </a:p>
          <a:p>
            <a:pPr marL="171450" indent="-171450">
              <a:buFont typeface="Arial" panose="020B0604020202020204" pitchFamily="34" charset="0"/>
              <a:buChar char="•"/>
            </a:pPr>
            <a:r>
              <a:rPr lang="en-US" sz="1000" dirty="0"/>
              <a:t>Ian O’Connor (École Centrale de Lyon, FR)</a:t>
            </a:r>
          </a:p>
          <a:p>
            <a:r>
              <a:rPr lang="en-US" sz="1000" b="1" dirty="0"/>
              <a:t>Program Co-Chairs:</a:t>
            </a:r>
            <a:r>
              <a:rPr lang="en-US" sz="1000" dirty="0"/>
              <a:t> </a:t>
            </a:r>
          </a:p>
          <a:p>
            <a:pPr marL="171450" indent="-171450">
              <a:buFont typeface="Arial" panose="020B0604020202020204" pitchFamily="34" charset="0"/>
              <a:buChar char="•"/>
            </a:pPr>
            <a:r>
              <a:rPr lang="en-US" sz="1000" dirty="0"/>
              <a:t>Panagiota Nikolaou (Univ. of Central Lancashire, CY), </a:t>
            </a:r>
          </a:p>
          <a:p>
            <a:pPr marL="171450" indent="-171450">
              <a:buFont typeface="Arial" panose="020B0604020202020204" pitchFamily="34" charset="0"/>
              <a:buChar char="•"/>
            </a:pPr>
            <a:r>
              <a:rPr lang="en-US" sz="1000" dirty="0"/>
              <a:t>Florenc Demrozi (Univ. of Stavanger, NO)</a:t>
            </a:r>
          </a:p>
          <a:p>
            <a:r>
              <a:rPr lang="en-US" sz="1000" b="1" dirty="0"/>
              <a:t>Publication Co-Chairs:</a:t>
            </a:r>
            <a:r>
              <a:rPr lang="en-US" sz="1000" dirty="0"/>
              <a:t> </a:t>
            </a:r>
          </a:p>
          <a:p>
            <a:pPr marL="171450" indent="-171450">
              <a:buFont typeface="Arial" panose="020B0604020202020204" pitchFamily="34" charset="0"/>
              <a:buChar char="•"/>
            </a:pPr>
            <a:r>
              <a:rPr lang="en-US" sz="1000" dirty="0"/>
              <a:t>Enrico Fraccaroli (UNC Chapel Hill, US)</a:t>
            </a:r>
          </a:p>
          <a:p>
            <a:pPr marL="171450" indent="-171450">
              <a:buFont typeface="Arial" panose="020B0604020202020204" pitchFamily="34" charset="0"/>
              <a:buChar char="•"/>
            </a:pPr>
            <a:r>
              <a:rPr lang="en-US" sz="1000" dirty="0"/>
              <a:t>Christiana Ioannou (University of Central Lancashire, CY)</a:t>
            </a:r>
          </a:p>
          <a:p>
            <a:r>
              <a:rPr lang="en-US" sz="1000" b="1" dirty="0"/>
              <a:t>Special Session Co-Chairs:</a:t>
            </a:r>
            <a:r>
              <a:rPr lang="en-US" sz="1000" dirty="0"/>
              <a:t> </a:t>
            </a:r>
          </a:p>
          <a:p>
            <a:pPr marL="171450" indent="-171450">
              <a:buFont typeface="Arial" panose="020B0604020202020204" pitchFamily="34" charset="0"/>
              <a:buChar char="•"/>
            </a:pPr>
            <a:r>
              <a:rPr lang="en-US" sz="1000" dirty="0"/>
              <a:t>Maria Michael (University of Cyprus, CY)</a:t>
            </a:r>
          </a:p>
          <a:p>
            <a:pPr marL="171450" indent="-171450">
              <a:buFont typeface="Arial" panose="020B0604020202020204" pitchFamily="34" charset="0"/>
              <a:buChar char="•"/>
            </a:pPr>
            <a:r>
              <a:rPr lang="en-US" sz="1000" dirty="0"/>
              <a:t>Theocharis Theocharides (University of Cyprus, CY)</a:t>
            </a:r>
          </a:p>
          <a:p>
            <a:r>
              <a:rPr lang="en-US" sz="1000" b="1" dirty="0"/>
              <a:t>Tutorial Co-Chairs:</a:t>
            </a:r>
            <a:r>
              <a:rPr lang="en-US" sz="1000" dirty="0"/>
              <a:t> </a:t>
            </a:r>
          </a:p>
          <a:p>
            <a:pPr marL="171450" indent="-171450">
              <a:buFont typeface="Arial" panose="020B0604020202020204" pitchFamily="34" charset="0"/>
              <a:buChar char="•"/>
            </a:pPr>
            <a:r>
              <a:rPr lang="en-US" sz="1000" dirty="0"/>
              <a:t>Alberto Bosio (École Centrale de Lyon, FR)</a:t>
            </a:r>
          </a:p>
          <a:p>
            <a:pPr marL="171450" indent="-171450">
              <a:buFont typeface="Arial" panose="020B0604020202020204" pitchFamily="34" charset="0"/>
              <a:buChar char="•"/>
            </a:pPr>
            <a:r>
              <a:rPr lang="en-US" sz="1000" dirty="0"/>
              <a:t>Rafaella Elia (University of Cyprus, CY)</a:t>
            </a:r>
          </a:p>
          <a:p>
            <a:r>
              <a:rPr lang="en-US" sz="1000" b="1" dirty="0"/>
              <a:t>Finance Chair:</a:t>
            </a:r>
            <a:r>
              <a:rPr lang="en-US" sz="1000" dirty="0"/>
              <a:t> Anna Philippou (University of Cyprus, CY)</a:t>
            </a:r>
          </a:p>
          <a:p>
            <a:r>
              <a:rPr lang="en-US" sz="1000" b="1" dirty="0"/>
              <a:t>Industrial Chair:</a:t>
            </a:r>
            <a:r>
              <a:rPr lang="en-US" sz="1000" dirty="0"/>
              <a:t> Leticia B. Pöhls (Leibniz IHP Microelectronics, DE)</a:t>
            </a:r>
            <a:br>
              <a:rPr lang="en-US" sz="1000" dirty="0"/>
            </a:br>
            <a:r>
              <a:rPr lang="en-US" sz="1000" b="1" dirty="0"/>
              <a:t>Local Industrial Chair:</a:t>
            </a:r>
            <a:r>
              <a:rPr lang="en-US" sz="1000" dirty="0"/>
              <a:t> Andreas Diavastos (Cyprus Univ. of Technology, CY)</a:t>
            </a:r>
          </a:p>
          <a:p>
            <a:r>
              <a:rPr lang="en-US" sz="1000" b="1" dirty="0"/>
              <a:t>Publicity Chair:</a:t>
            </a:r>
            <a:r>
              <a:rPr lang="en-US" sz="1000" dirty="0"/>
              <a:t> Nicolo´ Bellarmino  (</a:t>
            </a:r>
            <a:r>
              <a:rPr lang="en-US" sz="1000" dirty="0" err="1"/>
              <a:t>Politecnico</a:t>
            </a:r>
            <a:r>
              <a:rPr lang="en-US" sz="1000" dirty="0"/>
              <a:t> di Torino, Italy)</a:t>
            </a:r>
          </a:p>
        </p:txBody>
      </p:sp>
      <p:sp>
        <p:nvSpPr>
          <p:cNvPr id="2" name="Google Shape;101;p1">
            <a:extLst>
              <a:ext uri="{FF2B5EF4-FFF2-40B4-BE49-F238E27FC236}">
                <a16:creationId xmlns:a16="http://schemas.microsoft.com/office/drawing/2014/main" id="{A69113F4-CB54-F6B4-0E14-11A25D6ED9F4}"/>
              </a:ext>
            </a:extLst>
          </p:cNvPr>
          <p:cNvSpPr/>
          <p:nvPr/>
        </p:nvSpPr>
        <p:spPr>
          <a:xfrm>
            <a:off x="260683" y="442253"/>
            <a:ext cx="2235309" cy="1010523"/>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rgbClr val="FF0000"/>
                </a:solidFill>
                <a:ea typeface="Century Gothic"/>
                <a:cs typeface="Century Gothic"/>
                <a:sym typeface="Century Gothic"/>
              </a:rPr>
              <a:t>VLSI-SoC 2026</a:t>
            </a:r>
          </a:p>
          <a:p>
            <a:pPr>
              <a:buSzPts val="1800"/>
            </a:pPr>
            <a:r>
              <a:rPr lang="en-US" sz="1000" b="1" dirty="0">
                <a:solidFill>
                  <a:sysClr val="windowText" lastClr="000000"/>
                </a:solidFill>
                <a:sym typeface="Century Gothic"/>
              </a:rPr>
              <a:t>October 11-14, 2026</a:t>
            </a:r>
          </a:p>
          <a:p>
            <a:pPr>
              <a:buSzPts val="1800"/>
            </a:pPr>
            <a:r>
              <a:rPr lang="en-US" sz="1000" b="1" dirty="0">
                <a:solidFill>
                  <a:sysClr val="windowText" lastClr="000000"/>
                </a:solidFill>
                <a:sym typeface="Century Gothic"/>
              </a:rPr>
              <a:t>Limassol, Cyprus</a:t>
            </a:r>
          </a:p>
          <a:p>
            <a:pPr>
              <a:buSzPts val="1800"/>
            </a:pPr>
            <a:r>
              <a:rPr lang="en-US" sz="1000" b="1" dirty="0">
                <a:solidFill>
                  <a:sysClr val="windowText" lastClr="000000"/>
                </a:solidFill>
                <a:sym typeface="Century Gothic"/>
                <a:hlinkClick r:id="rId3"/>
              </a:rPr>
              <a:t>www.vlsi-soc.com</a:t>
            </a:r>
            <a:r>
              <a:rPr lang="en-US" sz="1000" b="1" dirty="0">
                <a:solidFill>
                  <a:sysClr val="windowText" lastClr="000000"/>
                </a:solidFill>
                <a:sym typeface="Century Gothic"/>
              </a:rPr>
              <a:t> </a:t>
            </a:r>
            <a:endParaRPr lang="en-US" sz="1000" dirty="0">
              <a:solidFill>
                <a:sysClr val="windowText" lastClr="000000"/>
              </a:solidFill>
            </a:endParaRPr>
          </a:p>
        </p:txBody>
      </p:sp>
      <p:sp>
        <p:nvSpPr>
          <p:cNvPr id="31" name="TextBox 30">
            <a:extLst>
              <a:ext uri="{FF2B5EF4-FFF2-40B4-BE49-F238E27FC236}">
                <a16:creationId xmlns:a16="http://schemas.microsoft.com/office/drawing/2014/main" id="{8126A645-7160-6FCB-9BA7-4E1A1270629A}"/>
              </a:ext>
            </a:extLst>
          </p:cNvPr>
          <p:cNvSpPr txBox="1"/>
          <p:nvPr/>
        </p:nvSpPr>
        <p:spPr>
          <a:xfrm>
            <a:off x="3932426" y="1374032"/>
            <a:ext cx="3776472" cy="2092881"/>
          </a:xfrm>
          <a:prstGeom prst="rect">
            <a:avLst/>
          </a:prstGeom>
          <a:solidFill>
            <a:schemeClr val="bg1"/>
          </a:solidFill>
        </p:spPr>
        <p:txBody>
          <a:bodyPr wrap="square">
            <a:spAutoFit/>
          </a:bodyPr>
          <a:lstStyle/>
          <a:p>
            <a:pPr algn="just"/>
            <a:r>
              <a:rPr lang="en-US" sz="1000" dirty="0"/>
              <a:t>VLSI-SoC 2026 is the 34</a:t>
            </a:r>
            <a:r>
              <a:rPr lang="en-US" sz="1000" baseline="30000" dirty="0"/>
              <a:t>th</a:t>
            </a:r>
            <a:r>
              <a:rPr lang="en-US" sz="1000" dirty="0"/>
              <a:t> in a series of international conferences sponsored by IFIPTC 10 WG 10.5, IEEE CASS, IEEE CEDA and ACM SIGDA, which explores the state-of-the-art in the areas that surround Very Large Scale Integration (VLSI) and System-on-Chip (SoC). Previous conferences have taken place in Edinburgh, Trondheim, Tokyo, Vancouver, Munich, Grenoble, Gramado, Lisbon, Montpellier, Darmstadt, Perth, Nice, Atlanta, Rhodes, </a:t>
            </a:r>
            <a:r>
              <a:rPr lang="en-US" sz="1000" dirty="0" err="1"/>
              <a:t>Florianópolis</a:t>
            </a:r>
            <a:r>
              <a:rPr lang="en-US" sz="1000" dirty="0"/>
              <a:t>, Madrid, Hong Kong, Santa Cruz, Istanbul, Playa del Carmen, Daejeon, Tallinn, Abu Dhabi, Verona, Cuzco, Salt Lake City, Singapore, Patras, Sharjah, Tanger, and Puerto Varas. The 2026 edition will take place at Limassol, Cyprus, a tourist and top destination in Southeast Europe.</a:t>
            </a:r>
          </a:p>
        </p:txBody>
      </p:sp>
      <p:sp>
        <p:nvSpPr>
          <p:cNvPr id="24" name="TextBox 23">
            <a:extLst>
              <a:ext uri="{FF2B5EF4-FFF2-40B4-BE49-F238E27FC236}">
                <a16:creationId xmlns:a16="http://schemas.microsoft.com/office/drawing/2014/main" id="{FA40FCDB-5246-012A-77B2-8A582FFAEE6E}"/>
              </a:ext>
            </a:extLst>
          </p:cNvPr>
          <p:cNvSpPr txBox="1"/>
          <p:nvPr/>
        </p:nvSpPr>
        <p:spPr>
          <a:xfrm>
            <a:off x="3932426" y="5514786"/>
            <a:ext cx="3783203" cy="2092881"/>
          </a:xfrm>
          <a:prstGeom prst="rect">
            <a:avLst/>
          </a:prstGeom>
          <a:solidFill>
            <a:schemeClr val="accent4">
              <a:lumMod val="40000"/>
              <a:lumOff val="60000"/>
            </a:schemeClr>
          </a:solidFill>
        </p:spPr>
        <p:txBody>
          <a:bodyPr wrap="square">
            <a:spAutoFit/>
          </a:bodyPr>
          <a:lstStyle/>
          <a:p>
            <a:r>
              <a:rPr lang="en-US" sz="1000" b="1" dirty="0"/>
              <a:t>Topics of interest include (but not limited to) the following:</a:t>
            </a:r>
            <a:endParaRPr lang="en-US" sz="1000" dirty="0"/>
          </a:p>
          <a:p>
            <a:pPr marL="228600" indent="-228600">
              <a:buFont typeface="+mj-lt"/>
              <a:buAutoNum type="arabicPeriod"/>
            </a:pPr>
            <a:r>
              <a:rPr lang="en-US" sz="1000" dirty="0"/>
              <a:t>Applications and Architectures for AI and ML</a:t>
            </a:r>
          </a:p>
          <a:p>
            <a:pPr marL="228600" indent="-228600">
              <a:buFont typeface="+mj-lt"/>
              <a:buAutoNum type="arabicPeriod"/>
            </a:pPr>
            <a:r>
              <a:rPr lang="en-US" sz="1000" dirty="0"/>
              <a:t>Communication Architectures and Technologies</a:t>
            </a:r>
          </a:p>
          <a:p>
            <a:pPr marL="228600" indent="-228600">
              <a:buFont typeface="+mj-lt"/>
              <a:buAutoNum type="arabicPeriod"/>
            </a:pPr>
            <a:r>
              <a:rPr lang="en-US" sz="1000" dirty="0"/>
              <a:t>Computing Paradigms</a:t>
            </a:r>
          </a:p>
          <a:p>
            <a:pPr marL="228600" indent="-228600">
              <a:buFont typeface="+mj-lt"/>
              <a:buAutoNum type="arabicPeriod"/>
            </a:pPr>
            <a:r>
              <a:rPr lang="en-US" sz="1000" dirty="0"/>
              <a:t>Digital Circuits Design and Synthesis</a:t>
            </a:r>
          </a:p>
          <a:p>
            <a:pPr marL="228600" indent="-228600">
              <a:buFont typeface="+mj-lt"/>
              <a:buAutoNum type="arabicPeriod"/>
            </a:pPr>
            <a:r>
              <a:rPr lang="en-US" sz="1000" dirty="0"/>
              <a:t>Embedded System Design</a:t>
            </a:r>
          </a:p>
          <a:p>
            <a:pPr marL="228600" indent="-228600">
              <a:buFont typeface="+mj-lt"/>
              <a:buAutoNum type="arabicPeriod"/>
            </a:pPr>
            <a:r>
              <a:rPr lang="en-US" sz="1000" dirty="0"/>
              <a:t>Emerging Technologies and Applications</a:t>
            </a:r>
          </a:p>
          <a:p>
            <a:pPr marL="228600" indent="-228600">
              <a:buFont typeface="+mj-lt"/>
              <a:buAutoNum type="arabicPeriod"/>
            </a:pPr>
            <a:r>
              <a:rPr lang="en-US" sz="1000" dirty="0"/>
              <a:t>Low-Power, Energy-Efficient and Thermal-Aware Design</a:t>
            </a:r>
          </a:p>
          <a:p>
            <a:pPr marL="228600" indent="-228600">
              <a:buFont typeface="+mj-lt"/>
              <a:buAutoNum type="arabicPeriod"/>
            </a:pPr>
            <a:r>
              <a:rPr lang="en-US" sz="1000" dirty="0"/>
              <a:t>Security</a:t>
            </a:r>
          </a:p>
          <a:p>
            <a:pPr marL="228600" indent="-228600">
              <a:buFont typeface="+mj-lt"/>
              <a:buAutoNum type="arabicPeriod"/>
            </a:pPr>
            <a:r>
              <a:rPr lang="en-US" sz="1000" dirty="0"/>
              <a:t>Sensing and Signal Processing Technologies</a:t>
            </a:r>
          </a:p>
          <a:p>
            <a:pPr marL="228600" indent="-228600">
              <a:buFont typeface="+mj-lt"/>
              <a:buAutoNum type="arabicPeriod"/>
            </a:pPr>
            <a:r>
              <a:rPr lang="en-US" sz="1000" dirty="0"/>
              <a:t>Smart Systems, Devices and Applications</a:t>
            </a:r>
          </a:p>
          <a:p>
            <a:pPr marL="228600" indent="-228600">
              <a:buFont typeface="+mj-lt"/>
              <a:buAutoNum type="arabicPeriod"/>
            </a:pPr>
            <a:r>
              <a:rPr lang="en-US" sz="1000" dirty="0"/>
              <a:t>System Specification, Simulation and Verification</a:t>
            </a:r>
          </a:p>
          <a:p>
            <a:pPr marL="228600" indent="-228600">
              <a:buFont typeface="+mj-lt"/>
              <a:buAutoNum type="arabicPeriod"/>
            </a:pPr>
            <a:r>
              <a:rPr lang="en-US" sz="1000" dirty="0"/>
              <a:t>Test and Dependability</a:t>
            </a:r>
          </a:p>
        </p:txBody>
      </p:sp>
      <p:pic>
        <p:nvPicPr>
          <p:cNvPr id="25" name="Picture 24">
            <a:extLst>
              <a:ext uri="{FF2B5EF4-FFF2-40B4-BE49-F238E27FC236}">
                <a16:creationId xmlns:a16="http://schemas.microsoft.com/office/drawing/2014/main" id="{3EBA2585-D833-8FC0-D527-6C003C1E82D9}"/>
              </a:ext>
            </a:extLst>
          </p:cNvPr>
          <p:cNvPicPr>
            <a:picLocks noChangeAspect="1"/>
          </p:cNvPicPr>
          <p:nvPr/>
        </p:nvPicPr>
        <p:blipFill>
          <a:blip r:embed="rId4">
            <a:alphaModFix amt="70000"/>
            <a:extLst>
              <a:ext uri="{28A0092B-C50C-407E-A947-70E740481C1C}">
                <a14:useLocalDpi xmlns:a14="http://schemas.microsoft.com/office/drawing/2010/main" val="0"/>
              </a:ext>
            </a:extLst>
          </a:blip>
          <a:srcRect b="47008"/>
          <a:stretch>
            <a:fillRect/>
          </a:stretch>
        </p:blipFill>
        <p:spPr>
          <a:xfrm>
            <a:off x="4624627" y="7608648"/>
            <a:ext cx="3087447" cy="1275743"/>
          </a:xfrm>
          <a:prstGeom prst="rect">
            <a:avLst/>
          </a:prstGeom>
        </p:spPr>
      </p:pic>
      <p:sp>
        <p:nvSpPr>
          <p:cNvPr id="40" name="TextBox 39">
            <a:extLst>
              <a:ext uri="{FF2B5EF4-FFF2-40B4-BE49-F238E27FC236}">
                <a16:creationId xmlns:a16="http://schemas.microsoft.com/office/drawing/2014/main" id="{94B8DE7A-A4EA-AB6D-8ECF-B5621BA2766E}"/>
              </a:ext>
            </a:extLst>
          </p:cNvPr>
          <p:cNvSpPr txBox="1"/>
          <p:nvPr/>
        </p:nvSpPr>
        <p:spPr>
          <a:xfrm>
            <a:off x="4621072" y="7607667"/>
            <a:ext cx="2928494" cy="1223412"/>
          </a:xfrm>
          <a:prstGeom prst="rect">
            <a:avLst/>
          </a:prstGeom>
          <a:noFill/>
        </p:spPr>
        <p:txBody>
          <a:bodyPr wrap="square">
            <a:spAutoFit/>
          </a:bodyPr>
          <a:lstStyle/>
          <a:p>
            <a:pPr eaLnBrk="0" fontAlgn="base" hangingPunct="0">
              <a:spcBef>
                <a:spcPct val="0"/>
              </a:spcBef>
              <a:spcAft>
                <a:spcPct val="0"/>
              </a:spcAft>
              <a:buClrTx/>
            </a:pPr>
            <a:r>
              <a:rPr lang="en-US" altLang="en-US" sz="1050" b="1" i="1" u="sng" dirty="0">
                <a:solidFill>
                  <a:srgbClr val="FF0000"/>
                </a:solidFill>
              </a:rPr>
              <a:t>Extended:</a:t>
            </a:r>
            <a:endParaRPr lang="en-US" altLang="en-US" sz="1050" b="1" i="1" u="sng" dirty="0">
              <a:solidFill>
                <a:srgbClr val="FF0000"/>
              </a:solidFill>
              <a:latin typeface="+mj-lt"/>
            </a:endParaRPr>
          </a:p>
          <a:p>
            <a:pPr eaLnBrk="0" fontAlgn="base" hangingPunct="0">
              <a:spcBef>
                <a:spcPct val="0"/>
              </a:spcBef>
              <a:spcAft>
                <a:spcPct val="0"/>
              </a:spcAft>
              <a:buClrTx/>
            </a:pPr>
            <a:r>
              <a:rPr lang="en-US" altLang="en-US" sz="1050" b="1" dirty="0">
                <a:solidFill>
                  <a:srgbClr val="212121"/>
                </a:solidFill>
                <a:latin typeface="+mj-lt"/>
              </a:rPr>
              <a:t>Abstract Deadline:	</a:t>
            </a:r>
            <a:r>
              <a:rPr lang="en-US" altLang="en-US" sz="1050" b="1" i="1" u="sng" dirty="0">
                <a:solidFill>
                  <a:srgbClr val="FF0000"/>
                </a:solidFill>
                <a:latin typeface="+mj-lt"/>
              </a:rPr>
              <a:t>04 May  2026</a:t>
            </a:r>
          </a:p>
          <a:p>
            <a:pPr eaLnBrk="0" fontAlgn="base" hangingPunct="0">
              <a:spcBef>
                <a:spcPct val="0"/>
              </a:spcBef>
              <a:spcAft>
                <a:spcPct val="0"/>
              </a:spcAft>
              <a:buClrTx/>
            </a:pPr>
            <a:r>
              <a:rPr lang="en-US" altLang="en-US" sz="1050" b="1" dirty="0">
                <a:solidFill>
                  <a:srgbClr val="212121"/>
                </a:solidFill>
                <a:latin typeface="+mj-lt"/>
              </a:rPr>
              <a:t>Full Paper Deadline: 	</a:t>
            </a:r>
            <a:r>
              <a:rPr lang="en-US" altLang="en-US" sz="1050" b="1" i="1" u="sng" dirty="0">
                <a:solidFill>
                  <a:srgbClr val="FF0000"/>
                </a:solidFill>
              </a:rPr>
              <a:t>11 May  2026</a:t>
            </a:r>
          </a:p>
          <a:p>
            <a:pPr eaLnBrk="0" fontAlgn="base" hangingPunct="0">
              <a:spcBef>
                <a:spcPct val="0"/>
              </a:spcBef>
              <a:spcAft>
                <a:spcPct val="0"/>
              </a:spcAft>
              <a:buClrTx/>
            </a:pPr>
            <a:r>
              <a:rPr lang="en-US" altLang="en-US" sz="1050" b="1" i="1" dirty="0">
                <a:solidFill>
                  <a:sysClr val="windowText" lastClr="000000"/>
                </a:solidFill>
                <a:latin typeface="+mj-lt"/>
              </a:rPr>
              <a:t>Special Session Deadline: 	</a:t>
            </a:r>
            <a:r>
              <a:rPr lang="en-US" altLang="en-US" sz="1050" b="1" i="1" u="sng" dirty="0">
                <a:solidFill>
                  <a:srgbClr val="FF0000"/>
                </a:solidFill>
                <a:latin typeface="+mj-lt"/>
              </a:rPr>
              <a:t>11 May 2026</a:t>
            </a:r>
          </a:p>
          <a:p>
            <a:pPr eaLnBrk="0" fontAlgn="base" hangingPunct="0">
              <a:spcBef>
                <a:spcPct val="0"/>
              </a:spcBef>
              <a:spcAft>
                <a:spcPct val="0"/>
              </a:spcAft>
              <a:buClrTx/>
            </a:pPr>
            <a:r>
              <a:rPr lang="en-US" altLang="en-US" sz="1050" b="1" dirty="0">
                <a:solidFill>
                  <a:srgbClr val="212121"/>
                </a:solidFill>
                <a:latin typeface="+mj-lt"/>
              </a:rPr>
              <a:t>Author Notification:  	</a:t>
            </a:r>
            <a:r>
              <a:rPr lang="en-US" altLang="en-US" sz="1050" b="1" i="1" u="sng" dirty="0">
                <a:solidFill>
                  <a:srgbClr val="FF0000"/>
                </a:solidFill>
                <a:latin typeface="+mj-lt"/>
              </a:rPr>
              <a:t>22 June 2026</a:t>
            </a:r>
          </a:p>
          <a:p>
            <a:pPr eaLnBrk="0" fontAlgn="base" hangingPunct="0">
              <a:spcBef>
                <a:spcPct val="0"/>
              </a:spcBef>
              <a:spcAft>
                <a:spcPct val="0"/>
              </a:spcAft>
              <a:buClrTx/>
            </a:pPr>
            <a:r>
              <a:rPr lang="en-US" altLang="en-US" sz="1050" b="1" i="1" dirty="0">
                <a:solidFill>
                  <a:sysClr val="windowText" lastClr="000000"/>
                </a:solidFill>
                <a:latin typeface="+mj-lt"/>
              </a:rPr>
              <a:t>PhD &amp; Student Forum: </a:t>
            </a:r>
            <a:r>
              <a:rPr lang="en-US" altLang="en-US" sz="1050" b="1" i="1" dirty="0">
                <a:solidFill>
                  <a:srgbClr val="FF0000"/>
                </a:solidFill>
                <a:latin typeface="+mj-lt"/>
              </a:rPr>
              <a:t>	02 July 2026</a:t>
            </a:r>
          </a:p>
          <a:p>
            <a:pPr eaLnBrk="0" fontAlgn="base" hangingPunct="0">
              <a:spcBef>
                <a:spcPct val="0"/>
              </a:spcBef>
              <a:spcAft>
                <a:spcPct val="0"/>
              </a:spcAft>
              <a:buClrTx/>
            </a:pPr>
            <a:r>
              <a:rPr lang="en-US" altLang="en-US" sz="1050" b="1" dirty="0">
                <a:solidFill>
                  <a:srgbClr val="212121"/>
                </a:solidFill>
                <a:latin typeface="+mj-lt"/>
              </a:rPr>
              <a:t>Camera Ready:        	</a:t>
            </a:r>
            <a:r>
              <a:rPr lang="en-US" altLang="en-US" sz="1050" b="1" u="sng" dirty="0">
                <a:solidFill>
                  <a:srgbClr val="FF0000"/>
                </a:solidFill>
                <a:latin typeface="+mj-lt"/>
              </a:rPr>
              <a:t>13 July  2026</a:t>
            </a:r>
          </a:p>
        </p:txBody>
      </p:sp>
      <p:pic>
        <p:nvPicPr>
          <p:cNvPr id="8" name="Picture 7">
            <a:extLst>
              <a:ext uri="{FF2B5EF4-FFF2-40B4-BE49-F238E27FC236}">
                <a16:creationId xmlns:a16="http://schemas.microsoft.com/office/drawing/2014/main" id="{8DD1CB08-895D-39C7-A1A3-AB90601A2925}"/>
              </a:ext>
            </a:extLst>
          </p:cNvPr>
          <p:cNvPicPr>
            <a:picLocks noChangeAspect="1"/>
          </p:cNvPicPr>
          <p:nvPr/>
        </p:nvPicPr>
        <p:blipFill rotWithShape="1">
          <a:blip r:embed="rId5">
            <a:extLst>
              <a:ext uri="{28A0092B-C50C-407E-A947-70E740481C1C}">
                <a14:useLocalDpi xmlns:a14="http://schemas.microsoft.com/office/drawing/2010/main" val="0"/>
              </a:ext>
            </a:extLst>
          </a:blip>
          <a:srcRect t="461"/>
          <a:stretch/>
        </p:blipFill>
        <p:spPr>
          <a:xfrm>
            <a:off x="3932426" y="3403196"/>
            <a:ext cx="3776472" cy="2123871"/>
          </a:xfrm>
          <a:prstGeom prst="rect">
            <a:avLst/>
          </a:prstGeom>
        </p:spPr>
      </p:pic>
      <p:sp>
        <p:nvSpPr>
          <p:cNvPr id="47" name="Google Shape;101;p1">
            <a:extLst>
              <a:ext uri="{FF2B5EF4-FFF2-40B4-BE49-F238E27FC236}">
                <a16:creationId xmlns:a16="http://schemas.microsoft.com/office/drawing/2014/main" id="{1AC09E0C-3435-5317-4F94-ACB9E60348F1}"/>
              </a:ext>
            </a:extLst>
          </p:cNvPr>
          <p:cNvSpPr/>
          <p:nvPr/>
        </p:nvSpPr>
        <p:spPr>
          <a:xfrm>
            <a:off x="260681" y="69713"/>
            <a:ext cx="4203282" cy="58168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ysClr val="windowText" lastClr="000000"/>
                </a:solidFill>
                <a:ea typeface="Century Gothic"/>
                <a:cs typeface="Century Gothic"/>
                <a:sym typeface="Century Gothic"/>
              </a:rPr>
              <a:t>34</a:t>
            </a:r>
            <a:r>
              <a:rPr lang="en-US" sz="1600" b="1" baseline="30000" dirty="0">
                <a:solidFill>
                  <a:sysClr val="windowText" lastClr="000000"/>
                </a:solidFill>
                <a:ea typeface="Century Gothic"/>
                <a:cs typeface="Century Gothic"/>
                <a:sym typeface="Century Gothic"/>
              </a:rPr>
              <a:t>th</a:t>
            </a:r>
            <a:r>
              <a:rPr lang="en-US" sz="1600" b="1" dirty="0">
                <a:solidFill>
                  <a:sysClr val="windowText" lastClr="000000"/>
                </a:solidFill>
                <a:ea typeface="Century Gothic"/>
                <a:cs typeface="Century Gothic"/>
                <a:sym typeface="Century Gothic"/>
              </a:rPr>
              <a:t> IFIP/IEEE International Conference on Very Large-Scale Integration</a:t>
            </a:r>
            <a:endParaRPr lang="en-US" sz="1600" dirty="0">
              <a:solidFill>
                <a:sysClr val="windowText" lastClr="000000"/>
              </a:solidFill>
            </a:endParaRPr>
          </a:p>
        </p:txBody>
      </p:sp>
      <p:sp>
        <p:nvSpPr>
          <p:cNvPr id="7" name="Flowchart: Document 6">
            <a:extLst>
              <a:ext uri="{FF2B5EF4-FFF2-40B4-BE49-F238E27FC236}">
                <a16:creationId xmlns:a16="http://schemas.microsoft.com/office/drawing/2014/main" id="{4FDB180E-D5FE-3B77-19A7-BAAAF5E16B7F}"/>
              </a:ext>
            </a:extLst>
          </p:cNvPr>
          <p:cNvSpPr/>
          <p:nvPr/>
        </p:nvSpPr>
        <p:spPr>
          <a:xfrm>
            <a:off x="152398" y="1374031"/>
            <a:ext cx="3783203" cy="2602371"/>
          </a:xfrm>
          <a:prstGeom prst="flowChartDocument">
            <a:avLst/>
          </a:prstGeom>
          <a:blipFill dpi="0" rotWithShape="1">
            <a:blip r:embed="rId6">
              <a:extLst>
                <a:ext uri="{28A0092B-C50C-407E-A947-70E740481C1C}">
                  <a14:useLocalDpi xmlns:a14="http://schemas.microsoft.com/office/drawing/2010/main" val="0"/>
                </a:ext>
              </a:extLst>
            </a:blip>
            <a:srcRect/>
            <a:stretch>
              <a:fillRect t="-20062" b="2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B975944B-3360-1DB3-5D93-A6100006FE2A}"/>
              </a:ext>
            </a:extLst>
          </p:cNvPr>
          <p:cNvSpPr txBox="1"/>
          <p:nvPr/>
        </p:nvSpPr>
        <p:spPr>
          <a:xfrm>
            <a:off x="152399" y="3403194"/>
            <a:ext cx="3780366" cy="4401205"/>
          </a:xfrm>
          <a:prstGeom prst="rect">
            <a:avLst/>
          </a:prstGeom>
          <a:solidFill>
            <a:schemeClr val="accent6">
              <a:lumMod val="40000"/>
              <a:lumOff val="60000"/>
            </a:schemeClr>
          </a:solidFill>
        </p:spPr>
        <p:txBody>
          <a:bodyPr wrap="square">
            <a:spAutoFit/>
          </a:bodyPr>
          <a:lstStyle/>
          <a:p>
            <a:pPr algn="just"/>
            <a:r>
              <a:rPr lang="en-US" sz="1000" b="1" i="1" dirty="0"/>
              <a:t>Paper Submission</a:t>
            </a:r>
            <a:r>
              <a:rPr lang="en-US" sz="1000" b="1" dirty="0"/>
              <a:t>:</a:t>
            </a:r>
            <a:r>
              <a:rPr lang="en-US" sz="1000" dirty="0"/>
              <a:t> Papers should present original research and industrial results not published or submitted for publication in other forums. Electronic submission in PDF format to the </a:t>
            </a:r>
            <a:r>
              <a:rPr lang="en-US" sz="1000" dirty="0" err="1"/>
              <a:t>EasyChair</a:t>
            </a:r>
            <a:r>
              <a:rPr lang="en-US" sz="1000" dirty="0"/>
              <a:t> platform for VLSI-SoC 2026 is required. The proceedings will be published by IEEE and will be made available through IEEE Xplore. A selection of the conference best papers will be invited to be submitted to a special issue of the ACM Journal on Emerging Technologies in Computing Systems. Papers from special sessions will be invited to submit an extended version to be included as chapters of a book to be published by Springer.</a:t>
            </a:r>
          </a:p>
          <a:p>
            <a:pPr algn="just"/>
            <a:r>
              <a:rPr lang="en-US" sz="1000" b="1" i="1" dirty="0"/>
              <a:t>Paper Format:</a:t>
            </a:r>
            <a:r>
              <a:rPr lang="en-US" sz="1000" dirty="0"/>
              <a:t> Papers should not exceed 4 pages + 1 page with only references (single-spaced, 2 columns, 10pt font). Submissions should be camera-ready, following the IEEE proceedings specifications.</a:t>
            </a:r>
          </a:p>
          <a:p>
            <a:pPr algn="just"/>
            <a:r>
              <a:rPr lang="en-US" sz="1000" b="1" i="1" dirty="0"/>
              <a:t>Paper Publication and Presenter Registration:</a:t>
            </a:r>
            <a:r>
              <a:rPr lang="en-US" sz="1000" dirty="0"/>
              <a:t> Papers will be accepted for regular or poster presentation at the conference. Every accepted paper MUST have at least one author registered (full rate) at the conference by the time the camera-ready paper is submitted; the registered author is also expected to attend the conference and present the paper. A limited number of travel grants are available to needy PhD students from emerging countries.</a:t>
            </a:r>
          </a:p>
          <a:p>
            <a:pPr algn="just"/>
            <a:r>
              <a:rPr lang="en-US" sz="1000" b="1" i="1" dirty="0"/>
              <a:t>PhD &amp; Student Forum:</a:t>
            </a:r>
            <a:r>
              <a:rPr lang="en-US" sz="1000" dirty="0"/>
              <a:t> A dedicated poster session will be included in the technical program of the main conference. The Best PhD &amp; Student Forum winner will be invited to submit an extended version to be included as chapters of a book to be published by Springer.</a:t>
            </a:r>
          </a:p>
        </p:txBody>
      </p:sp>
      <p:pic>
        <p:nvPicPr>
          <p:cNvPr id="9" name="Picture 8">
            <a:extLst>
              <a:ext uri="{FF2B5EF4-FFF2-40B4-BE49-F238E27FC236}">
                <a16:creationId xmlns:a16="http://schemas.microsoft.com/office/drawing/2014/main" id="{487165FA-B017-6046-0182-0A9D547A65DD}"/>
              </a:ext>
            </a:extLst>
          </p:cNvPr>
          <p:cNvPicPr>
            <a:picLocks noChangeAspect="1"/>
          </p:cNvPicPr>
          <p:nvPr/>
        </p:nvPicPr>
        <p:blipFill>
          <a:blip r:embed="rId7"/>
          <a:srcRect/>
          <a:stretch/>
        </p:blipFill>
        <p:spPr>
          <a:xfrm>
            <a:off x="3521982" y="7616114"/>
            <a:ext cx="1081102" cy="1072566"/>
          </a:xfrm>
          <a:prstGeom prst="rect">
            <a:avLst/>
          </a:prstGeom>
        </p:spPr>
      </p:pic>
      <p:sp>
        <p:nvSpPr>
          <p:cNvPr id="6" name="TextBox 5">
            <a:extLst>
              <a:ext uri="{FF2B5EF4-FFF2-40B4-BE49-F238E27FC236}">
                <a16:creationId xmlns:a16="http://schemas.microsoft.com/office/drawing/2014/main" id="{81E3CFCC-257F-EF0E-7264-5138261007D8}"/>
              </a:ext>
            </a:extLst>
          </p:cNvPr>
          <p:cNvSpPr txBox="1"/>
          <p:nvPr/>
        </p:nvSpPr>
        <p:spPr>
          <a:xfrm>
            <a:off x="4603084" y="8972360"/>
            <a:ext cx="3261391" cy="1785104"/>
          </a:xfrm>
          <a:prstGeom prst="rect">
            <a:avLst/>
          </a:prstGeom>
          <a:noFill/>
        </p:spPr>
        <p:txBody>
          <a:bodyPr wrap="square">
            <a:spAutoFit/>
          </a:bodyPr>
          <a:lstStyle/>
          <a:p>
            <a:r>
              <a:rPr lang="en-US" sz="1000" b="1" dirty="0"/>
              <a:t>Panel Chair:</a:t>
            </a:r>
            <a:r>
              <a:rPr lang="en-US" sz="1000" dirty="0"/>
              <a:t> Sara Vinco (</a:t>
            </a:r>
            <a:r>
              <a:rPr lang="en-US" sz="1000" dirty="0" err="1"/>
              <a:t>Politecnico</a:t>
            </a:r>
            <a:r>
              <a:rPr lang="en-US" sz="1000" dirty="0"/>
              <a:t> di Torino, IT)</a:t>
            </a:r>
            <a:br>
              <a:rPr lang="en-US" sz="1000" dirty="0"/>
            </a:br>
            <a:r>
              <a:rPr lang="en-US" sz="1000" b="1" dirty="0"/>
              <a:t>Award Co-Chairs:</a:t>
            </a:r>
            <a:r>
              <a:rPr lang="en-US" sz="1000" dirty="0"/>
              <a:t> </a:t>
            </a:r>
          </a:p>
          <a:p>
            <a:pPr marL="171450" indent="-171450">
              <a:buFont typeface="Arial" panose="020B0604020202020204" pitchFamily="34" charset="0"/>
              <a:buChar char="•"/>
            </a:pPr>
            <a:r>
              <a:rPr lang="en-US" sz="1000" dirty="0"/>
              <a:t>Katell </a:t>
            </a:r>
            <a:r>
              <a:rPr lang="en-US" sz="1000" dirty="0" err="1"/>
              <a:t>Morin-Allory</a:t>
            </a:r>
            <a:r>
              <a:rPr lang="en-US" sz="1000" dirty="0"/>
              <a:t> (TIMA Laboratory, FR)</a:t>
            </a:r>
          </a:p>
          <a:p>
            <a:pPr marL="171450" indent="-171450">
              <a:buFont typeface="Arial" panose="020B0604020202020204" pitchFamily="34" charset="0"/>
              <a:buChar char="•"/>
            </a:pPr>
            <a:r>
              <a:rPr lang="en-US" sz="1000" dirty="0"/>
              <a:t>George Papadimitriou (University of Patras, GR)</a:t>
            </a:r>
          </a:p>
          <a:p>
            <a:pPr marL="171450" indent="-171450">
              <a:buFont typeface="Arial" panose="020B0604020202020204" pitchFamily="34" charset="0"/>
              <a:buChar char="•"/>
            </a:pPr>
            <a:r>
              <a:rPr lang="en-US" sz="1000" dirty="0"/>
              <a:t>Mohammad Iman (Université Grenoble Alpes, FR)</a:t>
            </a:r>
          </a:p>
          <a:p>
            <a:r>
              <a:rPr lang="en-US" sz="1000" b="1" dirty="0"/>
              <a:t>Ph.D. Forum Co-Chairs:</a:t>
            </a:r>
            <a:r>
              <a:rPr lang="en-US" sz="1000" dirty="0"/>
              <a:t> </a:t>
            </a:r>
          </a:p>
          <a:p>
            <a:pPr marL="171450" indent="-171450">
              <a:buFont typeface="Arial" panose="020B0604020202020204" pitchFamily="34" charset="0"/>
              <a:buChar char="•"/>
            </a:pPr>
            <a:r>
              <a:rPr lang="en-US" sz="1000" dirty="0"/>
              <a:t>Fatih Ugurdag (</a:t>
            </a:r>
            <a:r>
              <a:rPr lang="en-US" sz="1000" dirty="0" err="1"/>
              <a:t>Ozyegin</a:t>
            </a:r>
            <a:r>
              <a:rPr lang="en-US" sz="1000" dirty="0"/>
              <a:t> Univ., TR)</a:t>
            </a:r>
          </a:p>
          <a:p>
            <a:pPr marL="171450" indent="-171450">
              <a:buFont typeface="Arial" panose="020B0604020202020204" pitchFamily="34" charset="0"/>
              <a:buChar char="•"/>
            </a:pPr>
            <a:r>
              <a:rPr lang="es-ES" sz="1000" dirty="0"/>
              <a:t>Nahla El-Araby (TU </a:t>
            </a:r>
            <a:r>
              <a:rPr lang="es-ES" sz="1000" dirty="0" err="1"/>
              <a:t>Wein</a:t>
            </a:r>
            <a:r>
              <a:rPr lang="es-ES" sz="1000" dirty="0"/>
              <a:t>, AT)</a:t>
            </a:r>
            <a:endParaRPr lang="en-US" sz="1000" dirty="0"/>
          </a:p>
          <a:p>
            <a:r>
              <a:rPr lang="en-US" sz="1000" b="1" dirty="0"/>
              <a:t>Local Arrangements:</a:t>
            </a:r>
            <a:r>
              <a:rPr lang="en-US" sz="1000" dirty="0"/>
              <a:t> Nicolas Stratis, Petros Stratis (EasyConferences, CY)</a:t>
            </a:r>
          </a:p>
          <a:p>
            <a:r>
              <a:rPr lang="en-US" sz="1000" b="1" dirty="0"/>
              <a:t>Web Chair:</a:t>
            </a:r>
            <a:r>
              <a:rPr lang="en-US" sz="1000" dirty="0"/>
              <a:t> Matteo Iervasi (Univ. of Stavanger, NO)</a:t>
            </a:r>
          </a:p>
        </p:txBody>
      </p:sp>
      <p:grpSp>
        <p:nvGrpSpPr>
          <p:cNvPr id="34" name="Group 33">
            <a:extLst>
              <a:ext uri="{FF2B5EF4-FFF2-40B4-BE49-F238E27FC236}">
                <a16:creationId xmlns:a16="http://schemas.microsoft.com/office/drawing/2014/main" id="{3D5839E2-BD37-C098-B997-FAD93CA7C4B2}"/>
              </a:ext>
            </a:extLst>
          </p:cNvPr>
          <p:cNvGrpSpPr/>
          <p:nvPr/>
        </p:nvGrpSpPr>
        <p:grpSpPr>
          <a:xfrm>
            <a:off x="3433763" y="500167"/>
            <a:ext cx="3561292" cy="834242"/>
            <a:chOff x="3433763" y="500167"/>
            <a:chExt cx="3561292" cy="834242"/>
          </a:xfrm>
        </p:grpSpPr>
        <p:sp>
          <p:nvSpPr>
            <p:cNvPr id="18" name="Rectangle: Rounded Corners 17">
              <a:extLst>
                <a:ext uri="{FF2B5EF4-FFF2-40B4-BE49-F238E27FC236}">
                  <a16:creationId xmlns:a16="http://schemas.microsoft.com/office/drawing/2014/main" id="{1F6150D7-A6AD-9A0F-B07A-0CCE6FF58E49}"/>
                </a:ext>
              </a:extLst>
            </p:cNvPr>
            <p:cNvSpPr/>
            <p:nvPr/>
          </p:nvSpPr>
          <p:spPr>
            <a:xfrm>
              <a:off x="3433763" y="513933"/>
              <a:ext cx="3561292" cy="820476"/>
            </a:xfrm>
            <a:prstGeom prst="roundRect">
              <a:avLst>
                <a:gd name="adj" fmla="val 15676"/>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0" name="Picture 19">
              <a:extLst>
                <a:ext uri="{FF2B5EF4-FFF2-40B4-BE49-F238E27FC236}">
                  <a16:creationId xmlns:a16="http://schemas.microsoft.com/office/drawing/2014/main" id="{D2BC290A-637C-BEA4-2DDF-2DB70C572A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13648" y="535912"/>
              <a:ext cx="794087" cy="440573"/>
            </a:xfrm>
            <a:prstGeom prst="rect">
              <a:avLst/>
            </a:prstGeom>
          </p:spPr>
        </p:pic>
        <p:pic>
          <p:nvPicPr>
            <p:cNvPr id="22" name="Picture 2">
              <a:extLst>
                <a:ext uri="{FF2B5EF4-FFF2-40B4-BE49-F238E27FC236}">
                  <a16:creationId xmlns:a16="http://schemas.microsoft.com/office/drawing/2014/main" id="{F7AE4B4C-C829-0AE0-E6B6-F2F1EB81CB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9795" y="500167"/>
              <a:ext cx="409651" cy="51206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2511BED0-CEBB-51D4-0A79-5C59BF524F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3167" y="572668"/>
              <a:ext cx="1123060" cy="36706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blue and white logo&#10;&#10;AI-generated content may be incorrect.">
              <a:extLst>
                <a:ext uri="{FF2B5EF4-FFF2-40B4-BE49-F238E27FC236}">
                  <a16:creationId xmlns:a16="http://schemas.microsoft.com/office/drawing/2014/main" id="{3C7C5B8A-AF34-EE79-793C-16B70F6C6501}"/>
                </a:ext>
              </a:extLst>
            </p:cNvPr>
            <p:cNvPicPr>
              <a:picLocks noChangeAspect="1"/>
            </p:cNvPicPr>
            <p:nvPr/>
          </p:nvPicPr>
          <p:blipFill>
            <a:blip r:embed="rId11"/>
            <a:stretch>
              <a:fillRect/>
            </a:stretch>
          </p:blipFill>
          <p:spPr>
            <a:xfrm>
              <a:off x="5051874" y="988387"/>
              <a:ext cx="601014" cy="312527"/>
            </a:xfrm>
            <a:prstGeom prst="rect">
              <a:avLst/>
            </a:prstGeom>
          </p:spPr>
        </p:pic>
        <p:pic>
          <p:nvPicPr>
            <p:cNvPr id="28" name="Picture 27" descr="A green and black logo&#10;&#10;AI-generated content may be incorrect.">
              <a:extLst>
                <a:ext uri="{FF2B5EF4-FFF2-40B4-BE49-F238E27FC236}">
                  <a16:creationId xmlns:a16="http://schemas.microsoft.com/office/drawing/2014/main" id="{63932F60-F86E-9226-6519-29D6217F4091}"/>
                </a:ext>
              </a:extLst>
            </p:cNvPr>
            <p:cNvPicPr>
              <a:picLocks noChangeAspect="1"/>
            </p:cNvPicPr>
            <p:nvPr/>
          </p:nvPicPr>
          <p:blipFill>
            <a:blip r:embed="rId12"/>
            <a:srcRect l="15592" r="22816"/>
            <a:stretch>
              <a:fillRect/>
            </a:stretch>
          </p:blipFill>
          <p:spPr>
            <a:xfrm>
              <a:off x="5768833" y="971650"/>
              <a:ext cx="409826" cy="346000"/>
            </a:xfrm>
            <a:prstGeom prst="rect">
              <a:avLst/>
            </a:prstGeom>
          </p:spPr>
        </p:pic>
        <p:pic>
          <p:nvPicPr>
            <p:cNvPr id="30" name="Picture 29" descr="A blue logo on a black background&#10;&#10;AI-generated content may be incorrect.">
              <a:extLst>
                <a:ext uri="{FF2B5EF4-FFF2-40B4-BE49-F238E27FC236}">
                  <a16:creationId xmlns:a16="http://schemas.microsoft.com/office/drawing/2014/main" id="{16EDBCDD-2219-70DB-7619-B424A45A061F}"/>
                </a:ext>
              </a:extLst>
            </p:cNvPr>
            <p:cNvPicPr>
              <a:picLocks noChangeAspect="1"/>
            </p:cNvPicPr>
            <p:nvPr/>
          </p:nvPicPr>
          <p:blipFill>
            <a:blip r:embed="rId13"/>
            <a:stretch>
              <a:fillRect/>
            </a:stretch>
          </p:blipFill>
          <p:spPr>
            <a:xfrm>
              <a:off x="4270546" y="971651"/>
              <a:ext cx="665383" cy="345999"/>
            </a:xfrm>
            <a:prstGeom prst="rect">
              <a:avLst/>
            </a:prstGeom>
          </p:spPr>
        </p:pic>
        <p:pic>
          <p:nvPicPr>
            <p:cNvPr id="32" name="Picture 31" descr="A logo with a black background&#10;&#10;AI-generated content may be incorrect.">
              <a:extLst>
                <a:ext uri="{FF2B5EF4-FFF2-40B4-BE49-F238E27FC236}">
                  <a16:creationId xmlns:a16="http://schemas.microsoft.com/office/drawing/2014/main" id="{00044987-D22E-F7BA-10B3-43425E5DE5DB}"/>
                </a:ext>
              </a:extLst>
            </p:cNvPr>
            <p:cNvPicPr>
              <a:picLocks noChangeAspect="1"/>
            </p:cNvPicPr>
            <p:nvPr/>
          </p:nvPicPr>
          <p:blipFill>
            <a:blip r:embed="rId14"/>
            <a:stretch>
              <a:fillRect/>
            </a:stretch>
          </p:blipFill>
          <p:spPr>
            <a:xfrm>
              <a:off x="3472974" y="967427"/>
              <a:ext cx="681627" cy="354446"/>
            </a:xfrm>
            <a:prstGeom prst="rect">
              <a:avLst/>
            </a:prstGeom>
          </p:spPr>
        </p:pic>
        <p:pic>
          <p:nvPicPr>
            <p:cNvPr id="1026" name="Picture 2" descr="I-Form">
              <a:extLst>
                <a:ext uri="{FF2B5EF4-FFF2-40B4-BE49-F238E27FC236}">
                  <a16:creationId xmlns:a16="http://schemas.microsoft.com/office/drawing/2014/main" id="{0CFC1B59-EEA0-FC5A-065D-56CF8E43339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94603" y="959593"/>
              <a:ext cx="685397" cy="3701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iS_landscape_logo_positive_RGB_English">
              <a:extLst>
                <a:ext uri="{FF2B5EF4-FFF2-40B4-BE49-F238E27FC236}">
                  <a16:creationId xmlns:a16="http://schemas.microsoft.com/office/drawing/2014/main" id="{135AC808-DA1E-8062-BEC0-C055DE2AFD29}"/>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12173" t="16852" r="15160" b="19124"/>
            <a:stretch/>
          </p:blipFill>
          <p:spPr bwMode="auto">
            <a:xfrm>
              <a:off x="4961506" y="599935"/>
              <a:ext cx="779602" cy="312527"/>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Picture 2" descr="A close-up of a logo&#10;&#10;AI-generated content may be incorrect.">
            <a:extLst>
              <a:ext uri="{FF2B5EF4-FFF2-40B4-BE49-F238E27FC236}">
                <a16:creationId xmlns:a16="http://schemas.microsoft.com/office/drawing/2014/main" id="{9A613E9E-A522-895C-258F-8B3784359579}"/>
              </a:ext>
            </a:extLst>
          </p:cNvPr>
          <p:cNvPicPr>
            <a:picLocks noChangeAspect="1"/>
          </p:cNvPicPr>
          <p:nvPr/>
        </p:nvPicPr>
        <p:blipFill>
          <a:blip r:embed="rId17"/>
          <a:stretch>
            <a:fillRect/>
          </a:stretch>
        </p:blipFill>
        <p:spPr>
          <a:xfrm>
            <a:off x="6122020" y="64059"/>
            <a:ext cx="1586690" cy="825079"/>
          </a:xfrm>
          <a:prstGeom prst="rect">
            <a:avLst/>
          </a:prstGeom>
        </p:spPr>
      </p:pic>
      <p:sp>
        <p:nvSpPr>
          <p:cNvPr id="4" name="Arrow: Right 3">
            <a:extLst>
              <a:ext uri="{FF2B5EF4-FFF2-40B4-BE49-F238E27FC236}">
                <a16:creationId xmlns:a16="http://schemas.microsoft.com/office/drawing/2014/main" id="{E9CE182D-5BDB-27A0-F528-6C4730EFF4B1}"/>
              </a:ext>
            </a:extLst>
          </p:cNvPr>
          <p:cNvSpPr/>
          <p:nvPr/>
        </p:nvSpPr>
        <p:spPr>
          <a:xfrm>
            <a:off x="7124425" y="7128750"/>
            <a:ext cx="591203" cy="4182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BBDDD9-8CF6-6E58-3A8F-7D79242CC7FF}"/>
              </a:ext>
            </a:extLst>
          </p:cNvPr>
          <p:cNvSpPr txBox="1"/>
          <p:nvPr/>
        </p:nvSpPr>
        <p:spPr>
          <a:xfrm>
            <a:off x="6808961" y="6966546"/>
            <a:ext cx="884475" cy="756169"/>
          </a:xfrm>
          <a:prstGeom prst="rect">
            <a:avLst/>
          </a:prstGeom>
          <a:noFill/>
        </p:spPr>
        <p:txBody>
          <a:bodyPr wrap="square" rtlCol="0">
            <a:spAutoFit/>
          </a:bodyPr>
          <a:lstStyle/>
          <a:p>
            <a:pPr algn="ctr"/>
            <a:r>
              <a:rPr lang="en-US" b="1" dirty="0"/>
              <a:t>Look </a:t>
            </a:r>
          </a:p>
          <a:p>
            <a:pPr algn="ctr"/>
            <a:endParaRPr lang="en-US" b="1" dirty="0"/>
          </a:p>
          <a:p>
            <a:pPr algn="ctr"/>
            <a:r>
              <a:rPr lang="en-US" b="1" dirty="0"/>
              <a:t>Back</a:t>
            </a:r>
          </a:p>
        </p:txBody>
      </p:sp>
    </p:spTree>
    <p:extLst>
      <p:ext uri="{BB962C8B-B14F-4D97-AF65-F5344CB8AC3E}">
        <p14:creationId xmlns:p14="http://schemas.microsoft.com/office/powerpoint/2010/main" val="184321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4F335214-29CA-5496-D728-8FE3E0446E74}"/>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51DD963B-7854-D332-C98C-30A35A04E8F3}"/>
              </a:ext>
            </a:extLst>
          </p:cNvPr>
          <p:cNvSpPr/>
          <p:nvPr/>
        </p:nvSpPr>
        <p:spPr>
          <a:xfrm>
            <a:off x="152401" y="64059"/>
            <a:ext cx="7559675" cy="1283899"/>
          </a:xfrm>
          <a:prstGeom prst="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Google Shape;101;p1">
            <a:extLst>
              <a:ext uri="{FF2B5EF4-FFF2-40B4-BE49-F238E27FC236}">
                <a16:creationId xmlns:a16="http://schemas.microsoft.com/office/drawing/2014/main" id="{6260D315-2B08-2E8B-0B2C-68C24483B043}"/>
              </a:ext>
            </a:extLst>
          </p:cNvPr>
          <p:cNvSpPr/>
          <p:nvPr/>
        </p:nvSpPr>
        <p:spPr>
          <a:xfrm>
            <a:off x="260683" y="442253"/>
            <a:ext cx="2235309" cy="1010523"/>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rgbClr val="FF0000"/>
                </a:solidFill>
                <a:ea typeface="Century Gothic"/>
                <a:cs typeface="Century Gothic"/>
                <a:sym typeface="Century Gothic"/>
              </a:rPr>
              <a:t>VLSI-SoC 2026</a:t>
            </a:r>
          </a:p>
          <a:p>
            <a:pPr>
              <a:buSzPts val="1800"/>
            </a:pPr>
            <a:r>
              <a:rPr lang="en-US" sz="1000" b="1" dirty="0">
                <a:solidFill>
                  <a:sysClr val="windowText" lastClr="000000"/>
                </a:solidFill>
                <a:sym typeface="Century Gothic"/>
              </a:rPr>
              <a:t>October 11-14, 2026</a:t>
            </a:r>
          </a:p>
          <a:p>
            <a:pPr>
              <a:buSzPts val="1800"/>
            </a:pPr>
            <a:r>
              <a:rPr lang="en-US" sz="1000" b="1" dirty="0">
                <a:solidFill>
                  <a:sysClr val="windowText" lastClr="000000"/>
                </a:solidFill>
                <a:sym typeface="Century Gothic"/>
              </a:rPr>
              <a:t>Limassol, Cyprus</a:t>
            </a:r>
          </a:p>
          <a:p>
            <a:pPr>
              <a:buSzPts val="1800"/>
            </a:pPr>
            <a:r>
              <a:rPr lang="en-US" sz="1000" b="1" dirty="0">
                <a:solidFill>
                  <a:sysClr val="windowText" lastClr="000000"/>
                </a:solidFill>
                <a:sym typeface="Century Gothic"/>
                <a:hlinkClick r:id="rId3"/>
              </a:rPr>
              <a:t>www.vlsi-soc.com</a:t>
            </a:r>
            <a:r>
              <a:rPr lang="en-US" sz="1000" b="1" dirty="0">
                <a:solidFill>
                  <a:sysClr val="windowText" lastClr="000000"/>
                </a:solidFill>
                <a:sym typeface="Century Gothic"/>
              </a:rPr>
              <a:t> </a:t>
            </a:r>
            <a:endParaRPr lang="en-US" sz="1000" dirty="0">
              <a:solidFill>
                <a:sysClr val="windowText" lastClr="000000"/>
              </a:solidFill>
            </a:endParaRPr>
          </a:p>
        </p:txBody>
      </p:sp>
      <p:sp>
        <p:nvSpPr>
          <p:cNvPr id="47" name="Google Shape;101;p1">
            <a:extLst>
              <a:ext uri="{FF2B5EF4-FFF2-40B4-BE49-F238E27FC236}">
                <a16:creationId xmlns:a16="http://schemas.microsoft.com/office/drawing/2014/main" id="{EB9D2621-ABAA-A431-1D95-475160B25BE8}"/>
              </a:ext>
            </a:extLst>
          </p:cNvPr>
          <p:cNvSpPr/>
          <p:nvPr/>
        </p:nvSpPr>
        <p:spPr>
          <a:xfrm>
            <a:off x="260681" y="69713"/>
            <a:ext cx="4203282" cy="58168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ysClr val="windowText" lastClr="000000"/>
                </a:solidFill>
                <a:ea typeface="Century Gothic"/>
                <a:cs typeface="Century Gothic"/>
                <a:sym typeface="Century Gothic"/>
              </a:rPr>
              <a:t>34</a:t>
            </a:r>
            <a:r>
              <a:rPr lang="en-US" sz="1600" b="1" baseline="30000" dirty="0">
                <a:solidFill>
                  <a:sysClr val="windowText" lastClr="000000"/>
                </a:solidFill>
                <a:ea typeface="Century Gothic"/>
                <a:cs typeface="Century Gothic"/>
                <a:sym typeface="Century Gothic"/>
              </a:rPr>
              <a:t>th</a:t>
            </a:r>
            <a:r>
              <a:rPr lang="en-US" sz="1600" b="1" dirty="0">
                <a:solidFill>
                  <a:sysClr val="windowText" lastClr="000000"/>
                </a:solidFill>
                <a:ea typeface="Century Gothic"/>
                <a:cs typeface="Century Gothic"/>
                <a:sym typeface="Century Gothic"/>
              </a:rPr>
              <a:t> IFIP/IEEE International Conference on Very Large-Scale Integration</a:t>
            </a:r>
            <a:endParaRPr lang="en-US" sz="1600" dirty="0">
              <a:solidFill>
                <a:sysClr val="windowText" lastClr="000000"/>
              </a:solidFill>
            </a:endParaRPr>
          </a:p>
        </p:txBody>
      </p:sp>
      <p:grpSp>
        <p:nvGrpSpPr>
          <p:cNvPr id="12" name="Group 11">
            <a:extLst>
              <a:ext uri="{FF2B5EF4-FFF2-40B4-BE49-F238E27FC236}">
                <a16:creationId xmlns:a16="http://schemas.microsoft.com/office/drawing/2014/main" id="{5BAB2DA3-03B8-CC87-1DF7-6AD3ADF6E52B}"/>
              </a:ext>
            </a:extLst>
          </p:cNvPr>
          <p:cNvGrpSpPr/>
          <p:nvPr/>
        </p:nvGrpSpPr>
        <p:grpSpPr>
          <a:xfrm>
            <a:off x="3433763" y="500167"/>
            <a:ext cx="3561292" cy="834242"/>
            <a:chOff x="3433763" y="500167"/>
            <a:chExt cx="3561292" cy="834242"/>
          </a:xfrm>
        </p:grpSpPr>
        <p:sp>
          <p:nvSpPr>
            <p:cNvPr id="13" name="Rectangle: Rounded Corners 12">
              <a:extLst>
                <a:ext uri="{FF2B5EF4-FFF2-40B4-BE49-F238E27FC236}">
                  <a16:creationId xmlns:a16="http://schemas.microsoft.com/office/drawing/2014/main" id="{22E5C66B-78DB-888A-559D-173D2CFCD0CF}"/>
                </a:ext>
              </a:extLst>
            </p:cNvPr>
            <p:cNvSpPr/>
            <p:nvPr/>
          </p:nvSpPr>
          <p:spPr>
            <a:xfrm>
              <a:off x="3433763" y="513933"/>
              <a:ext cx="3561292" cy="820476"/>
            </a:xfrm>
            <a:prstGeom prst="roundRect">
              <a:avLst>
                <a:gd name="adj" fmla="val 15676"/>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4" name="Picture 13">
              <a:extLst>
                <a:ext uri="{FF2B5EF4-FFF2-40B4-BE49-F238E27FC236}">
                  <a16:creationId xmlns:a16="http://schemas.microsoft.com/office/drawing/2014/main" id="{4BC45DC1-2343-5256-C45F-BB69DFB6C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3648" y="535912"/>
              <a:ext cx="794087" cy="440573"/>
            </a:xfrm>
            <a:prstGeom prst="rect">
              <a:avLst/>
            </a:prstGeom>
          </p:spPr>
        </p:pic>
        <p:pic>
          <p:nvPicPr>
            <p:cNvPr id="15" name="Picture 2">
              <a:extLst>
                <a:ext uri="{FF2B5EF4-FFF2-40B4-BE49-F238E27FC236}">
                  <a16:creationId xmlns:a16="http://schemas.microsoft.com/office/drawing/2014/main" id="{0B200479-05C7-E638-2D58-B9550CC47E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9795" y="500167"/>
              <a:ext cx="409651" cy="51206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a:extLst>
                <a:ext uri="{FF2B5EF4-FFF2-40B4-BE49-F238E27FC236}">
                  <a16:creationId xmlns:a16="http://schemas.microsoft.com/office/drawing/2014/main" id="{9CE846BD-A769-CE8F-09DD-A9D4C6C25E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3167" y="572668"/>
              <a:ext cx="1123060" cy="36706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blue and white logo&#10;&#10;AI-generated content may be incorrect.">
              <a:extLst>
                <a:ext uri="{FF2B5EF4-FFF2-40B4-BE49-F238E27FC236}">
                  <a16:creationId xmlns:a16="http://schemas.microsoft.com/office/drawing/2014/main" id="{942647ED-CCA2-0730-91FE-4BF1AB108E5C}"/>
                </a:ext>
              </a:extLst>
            </p:cNvPr>
            <p:cNvPicPr>
              <a:picLocks noChangeAspect="1"/>
            </p:cNvPicPr>
            <p:nvPr/>
          </p:nvPicPr>
          <p:blipFill>
            <a:blip r:embed="rId7"/>
            <a:stretch>
              <a:fillRect/>
            </a:stretch>
          </p:blipFill>
          <p:spPr>
            <a:xfrm>
              <a:off x="5051874" y="988387"/>
              <a:ext cx="601014" cy="312527"/>
            </a:xfrm>
            <a:prstGeom prst="rect">
              <a:avLst/>
            </a:prstGeom>
          </p:spPr>
        </p:pic>
        <p:pic>
          <p:nvPicPr>
            <p:cNvPr id="18" name="Picture 17" descr="A green and black logo&#10;&#10;AI-generated content may be incorrect.">
              <a:extLst>
                <a:ext uri="{FF2B5EF4-FFF2-40B4-BE49-F238E27FC236}">
                  <a16:creationId xmlns:a16="http://schemas.microsoft.com/office/drawing/2014/main" id="{62666897-DD77-DD12-7997-6A7672CFA0BD}"/>
                </a:ext>
              </a:extLst>
            </p:cNvPr>
            <p:cNvPicPr>
              <a:picLocks noChangeAspect="1"/>
            </p:cNvPicPr>
            <p:nvPr/>
          </p:nvPicPr>
          <p:blipFill>
            <a:blip r:embed="rId8"/>
            <a:srcRect l="15592" r="22816"/>
            <a:stretch>
              <a:fillRect/>
            </a:stretch>
          </p:blipFill>
          <p:spPr>
            <a:xfrm>
              <a:off x="5768833" y="971650"/>
              <a:ext cx="409826" cy="346000"/>
            </a:xfrm>
            <a:prstGeom prst="rect">
              <a:avLst/>
            </a:prstGeom>
          </p:spPr>
        </p:pic>
        <p:pic>
          <p:nvPicPr>
            <p:cNvPr id="19" name="Picture 18" descr="A blue logo on a black background&#10;&#10;AI-generated content may be incorrect.">
              <a:extLst>
                <a:ext uri="{FF2B5EF4-FFF2-40B4-BE49-F238E27FC236}">
                  <a16:creationId xmlns:a16="http://schemas.microsoft.com/office/drawing/2014/main" id="{AF947596-0B22-8095-763A-FE4D7ED63945}"/>
                </a:ext>
              </a:extLst>
            </p:cNvPr>
            <p:cNvPicPr>
              <a:picLocks noChangeAspect="1"/>
            </p:cNvPicPr>
            <p:nvPr/>
          </p:nvPicPr>
          <p:blipFill>
            <a:blip r:embed="rId9"/>
            <a:stretch>
              <a:fillRect/>
            </a:stretch>
          </p:blipFill>
          <p:spPr>
            <a:xfrm>
              <a:off x="4270546" y="971651"/>
              <a:ext cx="665383" cy="345999"/>
            </a:xfrm>
            <a:prstGeom prst="rect">
              <a:avLst/>
            </a:prstGeom>
          </p:spPr>
        </p:pic>
        <p:pic>
          <p:nvPicPr>
            <p:cNvPr id="20" name="Picture 19" descr="A logo with a black background&#10;&#10;AI-generated content may be incorrect.">
              <a:extLst>
                <a:ext uri="{FF2B5EF4-FFF2-40B4-BE49-F238E27FC236}">
                  <a16:creationId xmlns:a16="http://schemas.microsoft.com/office/drawing/2014/main" id="{6CE74A7E-1EA0-097D-995F-7762E6029ADC}"/>
                </a:ext>
              </a:extLst>
            </p:cNvPr>
            <p:cNvPicPr>
              <a:picLocks noChangeAspect="1"/>
            </p:cNvPicPr>
            <p:nvPr/>
          </p:nvPicPr>
          <p:blipFill>
            <a:blip r:embed="rId10"/>
            <a:stretch>
              <a:fillRect/>
            </a:stretch>
          </p:blipFill>
          <p:spPr>
            <a:xfrm>
              <a:off x="3472974" y="967427"/>
              <a:ext cx="681627" cy="354446"/>
            </a:xfrm>
            <a:prstGeom prst="rect">
              <a:avLst/>
            </a:prstGeom>
          </p:spPr>
        </p:pic>
        <p:pic>
          <p:nvPicPr>
            <p:cNvPr id="21" name="Picture 2" descr="I-Form">
              <a:extLst>
                <a:ext uri="{FF2B5EF4-FFF2-40B4-BE49-F238E27FC236}">
                  <a16:creationId xmlns:a16="http://schemas.microsoft.com/office/drawing/2014/main" id="{7A833151-363E-8E30-0D60-38DFC1C5BE6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94603" y="959593"/>
              <a:ext cx="685397" cy="37011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UiS_landscape_logo_positive_RGB_English">
              <a:extLst>
                <a:ext uri="{FF2B5EF4-FFF2-40B4-BE49-F238E27FC236}">
                  <a16:creationId xmlns:a16="http://schemas.microsoft.com/office/drawing/2014/main" id="{45B93A8F-6D99-06AC-6A03-6C9DA45095B5}"/>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2173" t="16852" r="15160" b="19124"/>
            <a:stretch/>
          </p:blipFill>
          <p:spPr bwMode="auto">
            <a:xfrm>
              <a:off x="4961506" y="599935"/>
              <a:ext cx="779602" cy="312527"/>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Picture 2" descr="A close-up of a logo&#10;&#10;AI-generated content may be incorrect.">
            <a:extLst>
              <a:ext uri="{FF2B5EF4-FFF2-40B4-BE49-F238E27FC236}">
                <a16:creationId xmlns:a16="http://schemas.microsoft.com/office/drawing/2014/main" id="{D48BFF40-CF5D-B434-B4D2-F080C8721470}"/>
              </a:ext>
            </a:extLst>
          </p:cNvPr>
          <p:cNvPicPr>
            <a:picLocks noChangeAspect="1"/>
          </p:cNvPicPr>
          <p:nvPr/>
        </p:nvPicPr>
        <p:blipFill>
          <a:blip r:embed="rId13"/>
          <a:stretch>
            <a:fillRect/>
          </a:stretch>
        </p:blipFill>
        <p:spPr>
          <a:xfrm>
            <a:off x="6122020" y="64059"/>
            <a:ext cx="1586690" cy="825079"/>
          </a:xfrm>
          <a:prstGeom prst="rect">
            <a:avLst/>
          </a:prstGeom>
        </p:spPr>
      </p:pic>
      <p:pic>
        <p:nvPicPr>
          <p:cNvPr id="4" name="Picture 3">
            <a:extLst>
              <a:ext uri="{FF2B5EF4-FFF2-40B4-BE49-F238E27FC236}">
                <a16:creationId xmlns:a16="http://schemas.microsoft.com/office/drawing/2014/main" id="{6F507DC6-D632-9F12-E0F2-F4EFDF219B87}"/>
              </a:ext>
            </a:extLst>
          </p:cNvPr>
          <p:cNvPicPr>
            <a:picLocks noChangeAspect="1"/>
          </p:cNvPicPr>
          <p:nvPr/>
        </p:nvPicPr>
        <p:blipFill>
          <a:blip r:embed="rId14">
            <a:alphaModFix amt="50000"/>
            <a:extLst>
              <a:ext uri="{28A0092B-C50C-407E-A947-70E740481C1C}">
                <a14:useLocalDpi xmlns:a14="http://schemas.microsoft.com/office/drawing/2010/main" val="0"/>
              </a:ext>
            </a:extLst>
          </a:blip>
          <a:srcRect t="8983" b="479"/>
          <a:stretch/>
        </p:blipFill>
        <p:spPr>
          <a:xfrm>
            <a:off x="152397" y="5951503"/>
            <a:ext cx="7556311" cy="4770238"/>
          </a:xfrm>
          <a:prstGeom prst="flowChartDocument">
            <a:avLst/>
          </a:prstGeom>
        </p:spPr>
      </p:pic>
      <p:sp>
        <p:nvSpPr>
          <p:cNvPr id="5" name="Flowchart: Document 4">
            <a:extLst>
              <a:ext uri="{FF2B5EF4-FFF2-40B4-BE49-F238E27FC236}">
                <a16:creationId xmlns:a16="http://schemas.microsoft.com/office/drawing/2014/main" id="{D5365DFF-C324-86F9-D311-49A65A6FDDAB}"/>
              </a:ext>
            </a:extLst>
          </p:cNvPr>
          <p:cNvSpPr/>
          <p:nvPr/>
        </p:nvSpPr>
        <p:spPr>
          <a:xfrm>
            <a:off x="152398" y="1374031"/>
            <a:ext cx="7556312" cy="4508053"/>
          </a:xfrm>
          <a:prstGeom prst="flowChartDocument">
            <a:avLst/>
          </a:prstGeom>
          <a:blipFill dpi="0" rotWithShape="1">
            <a:blip r:embed="rId15">
              <a:alphaModFix amt="20000"/>
              <a:extLst>
                <a:ext uri="{28A0092B-C50C-407E-A947-70E740481C1C}">
                  <a14:useLocalDpi xmlns:a14="http://schemas.microsoft.com/office/drawing/2010/main" val="0"/>
                </a:ext>
              </a:extLst>
            </a:blip>
            <a:srcRect/>
            <a:stretch>
              <a:fillRect t="-20062" b="2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D9DC12BC-6F69-9424-68CC-40A682AB06AB}"/>
              </a:ext>
            </a:extLst>
          </p:cNvPr>
          <p:cNvSpPr txBox="1"/>
          <p:nvPr/>
        </p:nvSpPr>
        <p:spPr>
          <a:xfrm>
            <a:off x="4068853" y="1425331"/>
            <a:ext cx="3531536" cy="307777"/>
          </a:xfrm>
          <a:prstGeom prst="rect">
            <a:avLst/>
          </a:prstGeom>
          <a:noFill/>
        </p:spPr>
        <p:txBody>
          <a:bodyPr wrap="square">
            <a:spAutoFit/>
          </a:bodyPr>
          <a:lstStyle/>
          <a:p>
            <a:pPr algn="ctr"/>
            <a:r>
              <a:rPr lang="it-IT" sz="1400" b="1" dirty="0"/>
              <a:t>Confirmed Industrial Keynote Speakers</a:t>
            </a:r>
            <a:endParaRPr lang="en-US" sz="1400" b="1" dirty="0"/>
          </a:p>
        </p:txBody>
      </p:sp>
      <p:sp>
        <p:nvSpPr>
          <p:cNvPr id="8" name="TextBox 7">
            <a:extLst>
              <a:ext uri="{FF2B5EF4-FFF2-40B4-BE49-F238E27FC236}">
                <a16:creationId xmlns:a16="http://schemas.microsoft.com/office/drawing/2014/main" id="{4768E1B7-9ABF-C79A-C84A-2281F8B519DB}"/>
              </a:ext>
            </a:extLst>
          </p:cNvPr>
          <p:cNvSpPr txBox="1"/>
          <p:nvPr/>
        </p:nvSpPr>
        <p:spPr>
          <a:xfrm>
            <a:off x="237878" y="1429574"/>
            <a:ext cx="3557744" cy="307777"/>
          </a:xfrm>
          <a:prstGeom prst="rect">
            <a:avLst/>
          </a:prstGeom>
          <a:noFill/>
        </p:spPr>
        <p:txBody>
          <a:bodyPr wrap="square">
            <a:spAutoFit/>
          </a:bodyPr>
          <a:lstStyle/>
          <a:p>
            <a:pPr algn="ctr"/>
            <a:r>
              <a:rPr lang="it-IT" sz="1400" b="1" dirty="0"/>
              <a:t>Confirmed Keynote Speakers</a:t>
            </a:r>
            <a:endParaRPr lang="en-US" sz="1400" b="1" dirty="0"/>
          </a:p>
        </p:txBody>
      </p:sp>
      <p:grpSp>
        <p:nvGrpSpPr>
          <p:cNvPr id="10" name="Group 9">
            <a:extLst>
              <a:ext uri="{FF2B5EF4-FFF2-40B4-BE49-F238E27FC236}">
                <a16:creationId xmlns:a16="http://schemas.microsoft.com/office/drawing/2014/main" id="{C9AEA78B-D405-3AD6-D5CB-EDA8AD0DE2E9}"/>
              </a:ext>
            </a:extLst>
          </p:cNvPr>
          <p:cNvGrpSpPr/>
          <p:nvPr/>
        </p:nvGrpSpPr>
        <p:grpSpPr>
          <a:xfrm>
            <a:off x="237878" y="3936715"/>
            <a:ext cx="7362512" cy="2436894"/>
            <a:chOff x="237878" y="3086103"/>
            <a:chExt cx="7362512" cy="2436894"/>
          </a:xfrm>
        </p:grpSpPr>
        <p:sp>
          <p:nvSpPr>
            <p:cNvPr id="26" name="TextBox 25">
              <a:extLst>
                <a:ext uri="{FF2B5EF4-FFF2-40B4-BE49-F238E27FC236}">
                  <a16:creationId xmlns:a16="http://schemas.microsoft.com/office/drawing/2014/main" id="{F9855526-00FA-F9CB-6E96-987F5DBEAFEB}"/>
                </a:ext>
              </a:extLst>
            </p:cNvPr>
            <p:cNvSpPr txBox="1"/>
            <p:nvPr/>
          </p:nvSpPr>
          <p:spPr>
            <a:xfrm>
              <a:off x="1486080" y="3276228"/>
              <a:ext cx="2286000" cy="2246769"/>
            </a:xfrm>
            <a:prstGeom prst="rect">
              <a:avLst/>
            </a:prstGeom>
            <a:noFill/>
          </p:spPr>
          <p:txBody>
            <a:bodyPr wrap="square">
              <a:spAutoFit/>
            </a:bodyPr>
            <a:lstStyle/>
            <a:p>
              <a:pPr algn="ctr"/>
              <a:r>
                <a:rPr lang="it-IT" sz="1000" dirty="0"/>
                <a:t>Prof. </a:t>
              </a:r>
              <a:r>
                <a:rPr lang="it-IT" sz="1000" b="1" dirty="0"/>
                <a:t>Giovanni De Micheli</a:t>
              </a:r>
            </a:p>
            <a:p>
              <a:pPr algn="ctr"/>
              <a:r>
                <a:rPr lang="it-IT" sz="1000" dirty="0"/>
                <a:t>EPFL, Switzerland</a:t>
              </a:r>
            </a:p>
            <a:p>
              <a:pPr algn="ctr"/>
              <a:endParaRPr lang="it-IT" sz="1000" b="1" dirty="0"/>
            </a:p>
            <a:p>
              <a:pPr algn="ctr"/>
              <a:r>
                <a:rPr lang="en-US" sz="1000" b="1" dirty="0"/>
                <a:t>Sustainable and Secure Computing: the Last Frontier</a:t>
              </a:r>
            </a:p>
            <a:p>
              <a:pPr algn="ctr"/>
              <a:endParaRPr lang="en-US" sz="1000" b="1" dirty="0"/>
            </a:p>
            <a:p>
              <a:pPr algn="ctr"/>
              <a:r>
                <a:rPr lang="en-US" sz="1000" b="1" dirty="0"/>
                <a:t>Short Abstract:</a:t>
              </a:r>
              <a:r>
                <a:rPr lang="en-US" sz="1000" dirty="0"/>
                <a:t> This keynote explores the convergence of sustainability and security in modern computing, highlighting key challenges and emerging approaches for building energy-efficient and resilient systems.</a:t>
              </a:r>
              <a:endParaRPr lang="it-IT" sz="1000" dirty="0"/>
            </a:p>
            <a:p>
              <a:pPr algn="ctr"/>
              <a:endParaRPr lang="en-US" sz="1000" dirty="0"/>
            </a:p>
          </p:txBody>
        </p:sp>
        <p:pic>
          <p:nvPicPr>
            <p:cNvPr id="29" name="Picture 2" descr="Prof. Giovanni De Micheli">
              <a:extLst>
                <a:ext uri="{FF2B5EF4-FFF2-40B4-BE49-F238E27FC236}">
                  <a16:creationId xmlns:a16="http://schemas.microsoft.com/office/drawing/2014/main" id="{8D03B2EE-4BAA-BC53-E8E7-5050B8B24A0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7878" y="3163536"/>
              <a:ext cx="1088136" cy="933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31" name="Picture 10" descr="Prof. Wolfgang Ecker">
              <a:extLst>
                <a:ext uri="{FF2B5EF4-FFF2-40B4-BE49-F238E27FC236}">
                  <a16:creationId xmlns:a16="http://schemas.microsoft.com/office/drawing/2014/main" id="{032B47E0-B48E-0420-FC9F-9D7EEF3C2A33}"/>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19820" r="26511" b="19480"/>
            <a:stretch/>
          </p:blipFill>
          <p:spPr bwMode="auto">
            <a:xfrm>
              <a:off x="4068853" y="3086103"/>
              <a:ext cx="1088136" cy="108813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64062D39-E701-10A3-31CA-407498AFEE7B}"/>
                </a:ext>
              </a:extLst>
            </p:cNvPr>
            <p:cNvSpPr txBox="1"/>
            <p:nvPr/>
          </p:nvSpPr>
          <p:spPr>
            <a:xfrm>
              <a:off x="5314390" y="3276228"/>
              <a:ext cx="2286000" cy="2092881"/>
            </a:xfrm>
            <a:prstGeom prst="rect">
              <a:avLst/>
            </a:prstGeom>
            <a:noFill/>
          </p:spPr>
          <p:txBody>
            <a:bodyPr wrap="square">
              <a:spAutoFit/>
            </a:bodyPr>
            <a:lstStyle/>
            <a:p>
              <a:pPr algn="ctr"/>
              <a:r>
                <a:rPr lang="it-IT" sz="1000" dirty="0"/>
                <a:t>Prof. </a:t>
              </a:r>
              <a:r>
                <a:rPr lang="it-IT" sz="1000" b="1" dirty="0"/>
                <a:t>Wolfgang Ecker</a:t>
              </a:r>
            </a:p>
            <a:p>
              <a:pPr algn="ctr"/>
              <a:r>
                <a:rPr lang="en-US" sz="1000" dirty="0"/>
                <a:t>TUM- Infineon, Germany</a:t>
              </a:r>
            </a:p>
            <a:p>
              <a:pPr algn="ctr"/>
              <a:endParaRPr lang="it-IT" sz="1000" b="1" dirty="0"/>
            </a:p>
            <a:p>
              <a:pPr algn="ctr"/>
              <a:r>
                <a:rPr lang="en-US" sz="1000" b="1" dirty="0"/>
                <a:t>What is the IP Reuse Trap for Digital Hardware, and how can it be escaped?</a:t>
              </a:r>
              <a:endParaRPr lang="it-IT" sz="1000" b="1" dirty="0"/>
            </a:p>
            <a:p>
              <a:pPr algn="ctr"/>
              <a:endParaRPr lang="en-US" sz="1000" b="1" dirty="0"/>
            </a:p>
            <a:p>
              <a:pPr algn="ctr"/>
              <a:r>
                <a:rPr lang="en-US" sz="1000" b="1" dirty="0"/>
                <a:t>Short Abstract:</a:t>
              </a:r>
              <a:r>
                <a:rPr lang="en-US" sz="1000" dirty="0"/>
                <a:t> This keynote explores the challenges of IP reuse in digital design and highlights emerging approaches to improve scalability and efficiency in SoC development.</a:t>
              </a:r>
            </a:p>
          </p:txBody>
        </p:sp>
      </p:grpSp>
      <p:grpSp>
        <p:nvGrpSpPr>
          <p:cNvPr id="33" name="Group 32">
            <a:extLst>
              <a:ext uri="{FF2B5EF4-FFF2-40B4-BE49-F238E27FC236}">
                <a16:creationId xmlns:a16="http://schemas.microsoft.com/office/drawing/2014/main" id="{FA70FB79-8584-12C8-0D1D-8C0BE048B8ED}"/>
              </a:ext>
            </a:extLst>
          </p:cNvPr>
          <p:cNvGrpSpPr/>
          <p:nvPr/>
        </p:nvGrpSpPr>
        <p:grpSpPr>
          <a:xfrm>
            <a:off x="237878" y="1819501"/>
            <a:ext cx="7362511" cy="2283006"/>
            <a:chOff x="237878" y="1819501"/>
            <a:chExt cx="7362511" cy="2283006"/>
          </a:xfrm>
        </p:grpSpPr>
        <p:pic>
          <p:nvPicPr>
            <p:cNvPr id="35" name="Picture 4" descr="Prof. Valeria Bertacco">
              <a:extLst>
                <a:ext uri="{FF2B5EF4-FFF2-40B4-BE49-F238E27FC236}">
                  <a16:creationId xmlns:a16="http://schemas.microsoft.com/office/drawing/2014/main" id="{3D1A4532-E8B6-FEF9-31EF-011C3847670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7878" y="1819501"/>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E729A6C5-A067-0B99-A3FE-B41739318B6A}"/>
                </a:ext>
              </a:extLst>
            </p:cNvPr>
            <p:cNvSpPr txBox="1"/>
            <p:nvPr/>
          </p:nvSpPr>
          <p:spPr>
            <a:xfrm>
              <a:off x="1486079" y="2009626"/>
              <a:ext cx="2286000" cy="2092881"/>
            </a:xfrm>
            <a:prstGeom prst="rect">
              <a:avLst/>
            </a:prstGeom>
            <a:noFill/>
          </p:spPr>
          <p:txBody>
            <a:bodyPr wrap="square">
              <a:spAutoFit/>
            </a:bodyPr>
            <a:lstStyle/>
            <a:p>
              <a:pPr algn="ctr"/>
              <a:r>
                <a:rPr lang="it-IT" sz="1000" dirty="0"/>
                <a:t>Prof. </a:t>
              </a:r>
              <a:r>
                <a:rPr lang="it-IT" sz="1000" b="1" dirty="0"/>
                <a:t>Valeria Bertacco</a:t>
              </a:r>
            </a:p>
            <a:p>
              <a:pPr algn="ctr"/>
              <a:r>
                <a:rPr lang="it-IT" sz="1000" dirty="0"/>
                <a:t>University of Michigan, USA</a:t>
              </a:r>
            </a:p>
            <a:p>
              <a:pPr algn="ctr"/>
              <a:endParaRPr lang="it-IT" sz="1000" b="1" dirty="0"/>
            </a:p>
            <a:p>
              <a:pPr algn="ctr"/>
              <a:r>
                <a:rPr lang="en-US" sz="1000" b="1" dirty="0"/>
                <a:t>From Edge AI to Intelligent Systems-on-Chip</a:t>
              </a:r>
            </a:p>
            <a:p>
              <a:pPr algn="ctr"/>
              <a:endParaRPr lang="en-US" sz="1000" b="1" dirty="0"/>
            </a:p>
            <a:p>
              <a:pPr algn="ctr"/>
              <a:r>
                <a:rPr lang="en-US" sz="1000" b="1" dirty="0"/>
                <a:t>Short Abstract: </a:t>
              </a:r>
              <a:r>
                <a:rPr lang="en-US" sz="1000" dirty="0"/>
                <a:t>This keynote discusses the integration of AI into Systems-on-Chip, focusing on efficient hardware–software co-design for edge intelligence and future AI-native architectures.</a:t>
              </a:r>
              <a:endParaRPr lang="it-IT" sz="1000" dirty="0"/>
            </a:p>
            <a:p>
              <a:pPr algn="ctr"/>
              <a:endParaRPr lang="en-US" sz="1000" dirty="0"/>
            </a:p>
          </p:txBody>
        </p:sp>
        <p:pic>
          <p:nvPicPr>
            <p:cNvPr id="38" name="Picture 37">
              <a:extLst>
                <a:ext uri="{FF2B5EF4-FFF2-40B4-BE49-F238E27FC236}">
                  <a16:creationId xmlns:a16="http://schemas.microsoft.com/office/drawing/2014/main" id="{DF46E2C4-61C0-E10B-21C8-773A4E3DD124}"/>
                </a:ext>
              </a:extLst>
            </p:cNvPr>
            <p:cNvPicPr>
              <a:picLocks noChangeAspect="1"/>
            </p:cNvPicPr>
            <p:nvPr/>
          </p:nvPicPr>
          <p:blipFill>
            <a:blip r:embed="rId19"/>
            <a:stretch>
              <a:fillRect/>
            </a:stretch>
          </p:blipFill>
          <p:spPr>
            <a:xfrm>
              <a:off x="4068853" y="1819501"/>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9" name="TextBox 38">
              <a:extLst>
                <a:ext uri="{FF2B5EF4-FFF2-40B4-BE49-F238E27FC236}">
                  <a16:creationId xmlns:a16="http://schemas.microsoft.com/office/drawing/2014/main" id="{A4EED4B3-1C1C-AD22-4611-F8B562B720F5}"/>
                </a:ext>
              </a:extLst>
            </p:cNvPr>
            <p:cNvSpPr txBox="1"/>
            <p:nvPr/>
          </p:nvSpPr>
          <p:spPr>
            <a:xfrm>
              <a:off x="5314389" y="2009626"/>
              <a:ext cx="2286000" cy="2092881"/>
            </a:xfrm>
            <a:prstGeom prst="rect">
              <a:avLst/>
            </a:prstGeom>
            <a:noFill/>
          </p:spPr>
          <p:txBody>
            <a:bodyPr wrap="square">
              <a:spAutoFit/>
            </a:bodyPr>
            <a:lstStyle/>
            <a:p>
              <a:pPr algn="ctr"/>
              <a:r>
                <a:rPr lang="it-IT" sz="1000" dirty="0"/>
                <a:t>Dr. </a:t>
              </a:r>
              <a:r>
                <a:rPr lang="it-IT" sz="1000" b="1" dirty="0"/>
                <a:t>Victor Grimblatt</a:t>
              </a:r>
            </a:p>
            <a:p>
              <a:pPr algn="ctr"/>
              <a:r>
                <a:rPr lang="it-IT" sz="1000" dirty="0"/>
                <a:t>Synopsys, Vitacura, Chile</a:t>
              </a:r>
            </a:p>
            <a:p>
              <a:pPr algn="ctr"/>
              <a:endParaRPr lang="en-US" sz="1000" b="1" dirty="0"/>
            </a:p>
            <a:p>
              <a:pPr algn="ctr"/>
              <a:r>
                <a:rPr lang="en-US" sz="1000" b="1" dirty="0"/>
                <a:t>Low Power IC Design for a Sustainable World</a:t>
              </a:r>
            </a:p>
            <a:p>
              <a:pPr algn="ctr"/>
              <a:endParaRPr lang="en-US" sz="1000" b="1" dirty="0"/>
            </a:p>
            <a:p>
              <a:pPr algn="ctr"/>
              <a:r>
                <a:rPr lang="en-US" sz="1000" b="1" dirty="0"/>
                <a:t>Short Abstract: </a:t>
              </a:r>
              <a:r>
                <a:rPr lang="en-US" sz="1000" dirty="0"/>
                <a:t>This keynote explores key low-power IC design techniques and their role in reducing energy consumption, enabling more sustainable and efficient electronic systems.</a:t>
              </a:r>
              <a:endParaRPr lang="it-IT" sz="1000" dirty="0"/>
            </a:p>
            <a:p>
              <a:pPr algn="ctr"/>
              <a:endParaRPr lang="en-US" sz="1000" dirty="0"/>
            </a:p>
          </p:txBody>
        </p:sp>
      </p:grpSp>
      <p:grpSp>
        <p:nvGrpSpPr>
          <p:cNvPr id="40" name="Group 39">
            <a:extLst>
              <a:ext uri="{FF2B5EF4-FFF2-40B4-BE49-F238E27FC236}">
                <a16:creationId xmlns:a16="http://schemas.microsoft.com/office/drawing/2014/main" id="{4D49FE72-633F-76FD-621D-60CFC9EA6F96}"/>
              </a:ext>
            </a:extLst>
          </p:cNvPr>
          <p:cNvGrpSpPr/>
          <p:nvPr/>
        </p:nvGrpSpPr>
        <p:grpSpPr>
          <a:xfrm>
            <a:off x="237878" y="6207817"/>
            <a:ext cx="7388718" cy="2436894"/>
            <a:chOff x="237878" y="6207817"/>
            <a:chExt cx="7388718" cy="2436894"/>
          </a:xfrm>
        </p:grpSpPr>
        <p:pic>
          <p:nvPicPr>
            <p:cNvPr id="42" name="Picture 6" descr="Prof. Freddy Gabbay">
              <a:extLst>
                <a:ext uri="{FF2B5EF4-FFF2-40B4-BE49-F238E27FC236}">
                  <a16:creationId xmlns:a16="http://schemas.microsoft.com/office/drawing/2014/main" id="{AC5ACFBE-D2CA-4A89-6B76-051DFA9B92A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7878" y="6207817"/>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DFE7D4F5-097E-4D81-A80D-284C399AFF8C}"/>
                </a:ext>
              </a:extLst>
            </p:cNvPr>
            <p:cNvSpPr txBox="1"/>
            <p:nvPr/>
          </p:nvSpPr>
          <p:spPr>
            <a:xfrm>
              <a:off x="1512286" y="6397942"/>
              <a:ext cx="2286000" cy="2092881"/>
            </a:xfrm>
            <a:prstGeom prst="rect">
              <a:avLst/>
            </a:prstGeom>
            <a:noFill/>
          </p:spPr>
          <p:txBody>
            <a:bodyPr wrap="square">
              <a:spAutoFit/>
            </a:bodyPr>
            <a:lstStyle/>
            <a:p>
              <a:pPr algn="ctr"/>
              <a:r>
                <a:rPr lang="en-US" sz="1000" dirty="0"/>
                <a:t>Prof. </a:t>
              </a:r>
              <a:r>
                <a:rPr lang="en-US" sz="1000" b="1" dirty="0"/>
                <a:t>Freddy Gabbay</a:t>
              </a:r>
            </a:p>
            <a:p>
              <a:pPr algn="ctr"/>
              <a:r>
                <a:rPr lang="en-US" sz="1000" dirty="0"/>
                <a:t>Hebrew Univ. of Jerusalem</a:t>
              </a:r>
            </a:p>
            <a:p>
              <a:pPr algn="ctr"/>
              <a:endParaRPr lang="en-US" sz="1000" b="1" dirty="0"/>
            </a:p>
            <a:p>
              <a:pPr algn="ctr"/>
              <a:r>
                <a:rPr lang="en-US" sz="1000" b="1" dirty="0"/>
                <a:t>Do We Really Need All the Bits? Value-Driven Approximate Computing for AI Accelerators</a:t>
              </a:r>
              <a:endParaRPr lang="it-IT" sz="1000" b="1" dirty="0"/>
            </a:p>
            <a:p>
              <a:pPr algn="ctr"/>
              <a:endParaRPr lang="en-US" sz="1000" b="1" dirty="0"/>
            </a:p>
            <a:p>
              <a:pPr algn="ctr"/>
              <a:r>
                <a:rPr lang="en-US" sz="1000" b="1" dirty="0"/>
                <a:t>Short Abstract: </a:t>
              </a:r>
              <a:r>
                <a:rPr lang="en-US" sz="1000" dirty="0"/>
                <a:t>This keynote explores value-driven approximate computing for AI accelerators, using selective precision and co-design techniques to improve efficiency while preserving model accuracy.</a:t>
              </a:r>
            </a:p>
          </p:txBody>
        </p:sp>
        <p:pic>
          <p:nvPicPr>
            <p:cNvPr id="44" name="Picture 8" descr="Odysseas Economides">
              <a:extLst>
                <a:ext uri="{FF2B5EF4-FFF2-40B4-BE49-F238E27FC236}">
                  <a16:creationId xmlns:a16="http://schemas.microsoft.com/office/drawing/2014/main" id="{C4261D3F-4DAD-FDA1-23AF-86B5330ED877}"/>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26346" r="23121" b="24231"/>
            <a:stretch/>
          </p:blipFill>
          <p:spPr bwMode="auto">
            <a:xfrm>
              <a:off x="4095060" y="6207817"/>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5B43C944-4B2A-F183-E8A2-54869CBFA6E6}"/>
                </a:ext>
              </a:extLst>
            </p:cNvPr>
            <p:cNvSpPr txBox="1"/>
            <p:nvPr/>
          </p:nvSpPr>
          <p:spPr>
            <a:xfrm>
              <a:off x="5340596" y="6397942"/>
              <a:ext cx="2286000" cy="2246769"/>
            </a:xfrm>
            <a:prstGeom prst="rect">
              <a:avLst/>
            </a:prstGeom>
            <a:noFill/>
          </p:spPr>
          <p:txBody>
            <a:bodyPr wrap="square">
              <a:spAutoFit/>
            </a:bodyPr>
            <a:lstStyle/>
            <a:p>
              <a:pPr algn="ctr"/>
              <a:r>
                <a:rPr lang="en-US" sz="1000" b="1" dirty="0"/>
                <a:t>Odysseas Economides</a:t>
              </a:r>
            </a:p>
            <a:p>
              <a:pPr algn="ctr"/>
              <a:r>
                <a:rPr lang="en-US" sz="1000" dirty="0" err="1"/>
                <a:t>HardwareX</a:t>
              </a:r>
              <a:r>
                <a:rPr lang="en-US" sz="1000" dirty="0"/>
                <a:t> Engineering, Cyprus</a:t>
              </a:r>
            </a:p>
            <a:p>
              <a:pPr algn="ctr"/>
              <a:endParaRPr lang="en-US" sz="1000" b="1" dirty="0"/>
            </a:p>
            <a:p>
              <a:pPr algn="ctr"/>
              <a:r>
                <a:rPr lang="en-US" sz="1000" b="1" dirty="0"/>
                <a:t>Bridging the gap between research and industry through embedded systems</a:t>
              </a:r>
            </a:p>
            <a:p>
              <a:pPr algn="ctr"/>
              <a:endParaRPr lang="en-US" sz="1000" b="1" dirty="0"/>
            </a:p>
            <a:p>
              <a:pPr algn="ctr"/>
              <a:r>
                <a:rPr lang="en-US" sz="1000" b="1" dirty="0"/>
                <a:t>Short Abstract: </a:t>
              </a:r>
              <a:r>
                <a:rPr lang="en-US" sz="1000" dirty="0"/>
                <a:t>This keynote explores how embedded systems enable the translation of research innovations into real-world industrial applications, highlighting challenges and strategies for effective technology transfer.</a:t>
              </a:r>
            </a:p>
          </p:txBody>
        </p:sp>
      </p:grpSp>
      <p:sp>
        <p:nvSpPr>
          <p:cNvPr id="46" name="TextBox 45">
            <a:extLst>
              <a:ext uri="{FF2B5EF4-FFF2-40B4-BE49-F238E27FC236}">
                <a16:creationId xmlns:a16="http://schemas.microsoft.com/office/drawing/2014/main" id="{F5B9BA43-9943-17CE-A62C-05841F63FEEF}"/>
              </a:ext>
            </a:extLst>
          </p:cNvPr>
          <p:cNvSpPr txBox="1"/>
          <p:nvPr/>
        </p:nvSpPr>
        <p:spPr>
          <a:xfrm>
            <a:off x="2664153" y="8628915"/>
            <a:ext cx="2532798" cy="307777"/>
          </a:xfrm>
          <a:prstGeom prst="rect">
            <a:avLst/>
          </a:prstGeom>
          <a:noFill/>
        </p:spPr>
        <p:txBody>
          <a:bodyPr wrap="square">
            <a:spAutoFit/>
          </a:bodyPr>
          <a:lstStyle/>
          <a:p>
            <a:pPr algn="ctr"/>
            <a:r>
              <a:rPr lang="it-IT" sz="1400" b="1" dirty="0"/>
              <a:t>Further Opportunities</a:t>
            </a:r>
            <a:endParaRPr lang="en-US" sz="1400" b="1" dirty="0"/>
          </a:p>
        </p:txBody>
      </p:sp>
      <p:sp>
        <p:nvSpPr>
          <p:cNvPr id="48" name="Rectangle: Rounded Corners 47">
            <a:extLst>
              <a:ext uri="{FF2B5EF4-FFF2-40B4-BE49-F238E27FC236}">
                <a16:creationId xmlns:a16="http://schemas.microsoft.com/office/drawing/2014/main" id="{9C3D111D-DE8D-5489-56A5-9976C34191E3}"/>
              </a:ext>
            </a:extLst>
          </p:cNvPr>
          <p:cNvSpPr/>
          <p:nvPr/>
        </p:nvSpPr>
        <p:spPr>
          <a:xfrm>
            <a:off x="237878" y="9097763"/>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Call for Special Sessions</a:t>
            </a:r>
          </a:p>
        </p:txBody>
      </p:sp>
      <p:sp>
        <p:nvSpPr>
          <p:cNvPr id="51" name="Rectangle: Rounded Corners 50">
            <a:extLst>
              <a:ext uri="{FF2B5EF4-FFF2-40B4-BE49-F238E27FC236}">
                <a16:creationId xmlns:a16="http://schemas.microsoft.com/office/drawing/2014/main" id="{97218E11-1981-EACE-8B93-EACF088E8B50}"/>
              </a:ext>
            </a:extLst>
          </p:cNvPr>
          <p:cNvSpPr/>
          <p:nvPr/>
        </p:nvSpPr>
        <p:spPr>
          <a:xfrm>
            <a:off x="2170705" y="9097763"/>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PhD &amp; Student Forum</a:t>
            </a:r>
          </a:p>
        </p:txBody>
      </p:sp>
      <p:sp>
        <p:nvSpPr>
          <p:cNvPr id="52" name="Rectangle: Rounded Corners 51">
            <a:extLst>
              <a:ext uri="{FF2B5EF4-FFF2-40B4-BE49-F238E27FC236}">
                <a16:creationId xmlns:a16="http://schemas.microsoft.com/office/drawing/2014/main" id="{647D7C17-CBCA-0FCA-8E06-3ECAEF44AAB0}"/>
              </a:ext>
            </a:extLst>
          </p:cNvPr>
          <p:cNvSpPr/>
          <p:nvPr/>
        </p:nvSpPr>
        <p:spPr>
          <a:xfrm>
            <a:off x="4103532" y="9097763"/>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Two Exciting Tutorial Sessions</a:t>
            </a:r>
          </a:p>
        </p:txBody>
      </p:sp>
      <p:sp>
        <p:nvSpPr>
          <p:cNvPr id="53" name="Rectangle: Rounded Corners 52">
            <a:extLst>
              <a:ext uri="{FF2B5EF4-FFF2-40B4-BE49-F238E27FC236}">
                <a16:creationId xmlns:a16="http://schemas.microsoft.com/office/drawing/2014/main" id="{90F5BE37-99DF-A4BA-57C8-388FE77F647F}"/>
              </a:ext>
            </a:extLst>
          </p:cNvPr>
          <p:cNvSpPr/>
          <p:nvPr/>
        </p:nvSpPr>
        <p:spPr>
          <a:xfrm>
            <a:off x="6036360" y="9097763"/>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Inspiring Panel Session</a:t>
            </a:r>
          </a:p>
        </p:txBody>
      </p:sp>
      <p:pic>
        <p:nvPicPr>
          <p:cNvPr id="54" name="Picture 12" descr="IEEE">
            <a:extLst>
              <a:ext uri="{FF2B5EF4-FFF2-40B4-BE49-F238E27FC236}">
                <a16:creationId xmlns:a16="http://schemas.microsoft.com/office/drawing/2014/main" id="{3FBA8A0F-74A4-81C7-92E6-78752EA5EC1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83679" y="10037473"/>
            <a:ext cx="3025029" cy="627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349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9573FDA-0AE6-7632-4115-6DF2AD671572}"/>
            </a:ext>
          </a:extLst>
        </p:cNvPr>
        <p:cNvGrpSpPr/>
        <p:nvPr/>
      </p:nvGrpSpPr>
      <p:grpSpPr>
        <a:xfrm>
          <a:off x="0" y="0"/>
          <a:ext cx="0" cy="0"/>
          <a:chOff x="0" y="0"/>
          <a:chExt cx="0" cy="0"/>
        </a:xfrm>
      </p:grpSpPr>
      <p:sp>
        <p:nvSpPr>
          <p:cNvPr id="5" name="Rectangle 6">
            <a:extLst>
              <a:ext uri="{FF2B5EF4-FFF2-40B4-BE49-F238E27FC236}">
                <a16:creationId xmlns:a16="http://schemas.microsoft.com/office/drawing/2014/main" id="{FF01ED2A-99B7-4890-3B6A-81AF1D5FF88E}"/>
              </a:ext>
            </a:extLst>
          </p:cNvPr>
          <p:cNvSpPr>
            <a:spLocks noChangeArrowheads="1"/>
          </p:cNvSpPr>
          <p:nvPr/>
        </p:nvSpPr>
        <p:spPr bwMode="auto">
          <a:xfrm>
            <a:off x="152402" y="7741255"/>
            <a:ext cx="4628343" cy="3016210"/>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r>
              <a:rPr lang="en-US" sz="1000" b="1" dirty="0"/>
              <a:t>General Co-Chairs:</a:t>
            </a:r>
            <a:r>
              <a:rPr lang="en-US" sz="1000" dirty="0"/>
              <a:t> </a:t>
            </a:r>
          </a:p>
          <a:p>
            <a:pPr marL="171450" indent="-171450">
              <a:buFont typeface="Arial" panose="020B0604020202020204" pitchFamily="34" charset="0"/>
              <a:buChar char="•"/>
            </a:pPr>
            <a:r>
              <a:rPr lang="en-US" sz="1000" dirty="0"/>
              <a:t>Tiziana Margaria (Univ. of Limerick, IE), </a:t>
            </a:r>
          </a:p>
          <a:p>
            <a:pPr marL="171450" indent="-171450">
              <a:buFont typeface="Arial" panose="020B0604020202020204" pitchFamily="34" charset="0"/>
              <a:buChar char="•"/>
            </a:pPr>
            <a:r>
              <a:rPr lang="en-US" sz="1000" dirty="0"/>
              <a:t>Ian O’Connor (École Centrale de Lyon, FR)</a:t>
            </a:r>
          </a:p>
          <a:p>
            <a:r>
              <a:rPr lang="en-US" sz="1000" b="1" dirty="0"/>
              <a:t>Program Co-Chairs:</a:t>
            </a:r>
            <a:r>
              <a:rPr lang="en-US" sz="1000" dirty="0"/>
              <a:t> </a:t>
            </a:r>
          </a:p>
          <a:p>
            <a:pPr marL="171450" indent="-171450">
              <a:buFont typeface="Arial" panose="020B0604020202020204" pitchFamily="34" charset="0"/>
              <a:buChar char="•"/>
            </a:pPr>
            <a:r>
              <a:rPr lang="en-US" sz="1000" dirty="0"/>
              <a:t>Panagiota Nikolaou (Univ. of Central Lancashire, CY), </a:t>
            </a:r>
          </a:p>
          <a:p>
            <a:pPr marL="171450" indent="-171450">
              <a:buFont typeface="Arial" panose="020B0604020202020204" pitchFamily="34" charset="0"/>
              <a:buChar char="•"/>
            </a:pPr>
            <a:r>
              <a:rPr lang="en-US" sz="1000" dirty="0"/>
              <a:t>Florenc Demrozi (Univ. of Stavanger, NO)</a:t>
            </a:r>
          </a:p>
          <a:p>
            <a:r>
              <a:rPr lang="en-US" sz="1000" b="1" dirty="0"/>
              <a:t>Publication Co-Chairs:</a:t>
            </a:r>
            <a:r>
              <a:rPr lang="en-US" sz="1000" dirty="0"/>
              <a:t> </a:t>
            </a:r>
          </a:p>
          <a:p>
            <a:pPr marL="171450" indent="-171450">
              <a:buFont typeface="Arial" panose="020B0604020202020204" pitchFamily="34" charset="0"/>
              <a:buChar char="•"/>
            </a:pPr>
            <a:r>
              <a:rPr lang="en-US" sz="1000" dirty="0"/>
              <a:t>Enrico Fraccaroli (UNC Chapel Hill, US)</a:t>
            </a:r>
          </a:p>
          <a:p>
            <a:pPr marL="171450" indent="-171450">
              <a:buFont typeface="Arial" panose="020B0604020202020204" pitchFamily="34" charset="0"/>
              <a:buChar char="•"/>
            </a:pPr>
            <a:r>
              <a:rPr lang="en-US" sz="1000" dirty="0"/>
              <a:t>Christiana Ioannou (University of Central Lancashire, CY)</a:t>
            </a:r>
          </a:p>
          <a:p>
            <a:r>
              <a:rPr lang="en-US" sz="1000" b="1" dirty="0"/>
              <a:t>Special Session Co-Chairs:</a:t>
            </a:r>
            <a:r>
              <a:rPr lang="en-US" sz="1000" dirty="0"/>
              <a:t> </a:t>
            </a:r>
          </a:p>
          <a:p>
            <a:pPr marL="171450" indent="-171450">
              <a:buFont typeface="Arial" panose="020B0604020202020204" pitchFamily="34" charset="0"/>
              <a:buChar char="•"/>
            </a:pPr>
            <a:r>
              <a:rPr lang="en-US" sz="1000" dirty="0"/>
              <a:t>Maria Michael (University of Cyprus, CY)</a:t>
            </a:r>
          </a:p>
          <a:p>
            <a:pPr marL="171450" indent="-171450">
              <a:buFont typeface="Arial" panose="020B0604020202020204" pitchFamily="34" charset="0"/>
              <a:buChar char="•"/>
            </a:pPr>
            <a:r>
              <a:rPr lang="en-US" sz="1000" dirty="0"/>
              <a:t>Theocharis Theocharides (University of Cyprus, CY)</a:t>
            </a:r>
          </a:p>
          <a:p>
            <a:r>
              <a:rPr lang="en-US" sz="1000" b="1" dirty="0"/>
              <a:t>Tutorial Co-Chairs:</a:t>
            </a:r>
            <a:r>
              <a:rPr lang="en-US" sz="1000" dirty="0"/>
              <a:t> </a:t>
            </a:r>
          </a:p>
          <a:p>
            <a:pPr marL="171450" indent="-171450">
              <a:buFont typeface="Arial" panose="020B0604020202020204" pitchFamily="34" charset="0"/>
              <a:buChar char="•"/>
            </a:pPr>
            <a:r>
              <a:rPr lang="en-US" sz="1000" dirty="0"/>
              <a:t>Alberto Bosio (École Centrale de Lyon, FR)</a:t>
            </a:r>
          </a:p>
          <a:p>
            <a:pPr marL="171450" indent="-171450">
              <a:buFont typeface="Arial" panose="020B0604020202020204" pitchFamily="34" charset="0"/>
              <a:buChar char="•"/>
            </a:pPr>
            <a:r>
              <a:rPr lang="en-US" sz="1000" dirty="0"/>
              <a:t>Rafaella Elia (University of Cyprus, CY)</a:t>
            </a:r>
          </a:p>
          <a:p>
            <a:r>
              <a:rPr lang="en-US" sz="1000" b="1" dirty="0"/>
              <a:t>Finance Chair:</a:t>
            </a:r>
            <a:r>
              <a:rPr lang="en-US" sz="1000" dirty="0"/>
              <a:t> Anna Philippou (University of Cyprus, CY)</a:t>
            </a:r>
          </a:p>
          <a:p>
            <a:r>
              <a:rPr lang="en-US" sz="1000" b="1" dirty="0"/>
              <a:t>Industrial Chair:</a:t>
            </a:r>
            <a:r>
              <a:rPr lang="en-US" sz="1000" dirty="0"/>
              <a:t> Leticia B. Pöhls (Leibniz IHP Microelectronics, DE)</a:t>
            </a:r>
            <a:br>
              <a:rPr lang="en-US" sz="1000" dirty="0"/>
            </a:br>
            <a:r>
              <a:rPr lang="en-US" sz="1000" b="1" dirty="0"/>
              <a:t>Local Industrial Chair:</a:t>
            </a:r>
            <a:r>
              <a:rPr lang="en-US" sz="1000" dirty="0"/>
              <a:t> Andreas Diavastos (Cyprus Univ. of Technology, CY)</a:t>
            </a:r>
          </a:p>
          <a:p>
            <a:r>
              <a:rPr lang="en-US" sz="1000" b="1" dirty="0"/>
              <a:t>Publicity Chair:</a:t>
            </a:r>
            <a:r>
              <a:rPr lang="en-US" sz="1000" dirty="0"/>
              <a:t> Nicolo´ Bellarmino  (</a:t>
            </a:r>
            <a:r>
              <a:rPr lang="en-US" sz="1000" dirty="0" err="1"/>
              <a:t>Politecnico</a:t>
            </a:r>
            <a:r>
              <a:rPr lang="en-US" sz="1000" dirty="0"/>
              <a:t> di Torino, Italy)</a:t>
            </a:r>
          </a:p>
        </p:txBody>
      </p:sp>
      <p:pic>
        <p:nvPicPr>
          <p:cNvPr id="13" name="Picture 12">
            <a:extLst>
              <a:ext uri="{FF2B5EF4-FFF2-40B4-BE49-F238E27FC236}">
                <a16:creationId xmlns:a16="http://schemas.microsoft.com/office/drawing/2014/main" id="{E7C7587B-3E37-3D72-6C01-2DBE9632072C}"/>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b="47008"/>
          <a:stretch>
            <a:fillRect/>
          </a:stretch>
        </p:blipFill>
        <p:spPr>
          <a:xfrm>
            <a:off x="4624627" y="7608648"/>
            <a:ext cx="3087447" cy="1275743"/>
          </a:xfrm>
          <a:prstGeom prst="rect">
            <a:avLst/>
          </a:prstGeom>
        </p:spPr>
      </p:pic>
      <p:sp>
        <p:nvSpPr>
          <p:cNvPr id="10" name="TextBox 9">
            <a:extLst>
              <a:ext uri="{FF2B5EF4-FFF2-40B4-BE49-F238E27FC236}">
                <a16:creationId xmlns:a16="http://schemas.microsoft.com/office/drawing/2014/main" id="{9E1C256A-0DBA-0C92-7FE3-67007A604289}"/>
              </a:ext>
            </a:extLst>
          </p:cNvPr>
          <p:cNvSpPr txBox="1"/>
          <p:nvPr/>
        </p:nvSpPr>
        <p:spPr>
          <a:xfrm>
            <a:off x="4603084" y="8972360"/>
            <a:ext cx="3261391" cy="1785104"/>
          </a:xfrm>
          <a:prstGeom prst="rect">
            <a:avLst/>
          </a:prstGeom>
          <a:noFill/>
        </p:spPr>
        <p:txBody>
          <a:bodyPr wrap="square">
            <a:spAutoFit/>
          </a:bodyPr>
          <a:lstStyle/>
          <a:p>
            <a:r>
              <a:rPr lang="en-US" sz="1000" b="1" dirty="0"/>
              <a:t>Panel Chair:</a:t>
            </a:r>
            <a:r>
              <a:rPr lang="en-US" sz="1000" dirty="0"/>
              <a:t> Sara Vinco (</a:t>
            </a:r>
            <a:r>
              <a:rPr lang="en-US" sz="1000" dirty="0" err="1"/>
              <a:t>Politecnico</a:t>
            </a:r>
            <a:r>
              <a:rPr lang="en-US" sz="1000" dirty="0"/>
              <a:t> di Torino, IT)</a:t>
            </a:r>
            <a:br>
              <a:rPr lang="en-US" sz="1000" dirty="0"/>
            </a:br>
            <a:r>
              <a:rPr lang="en-US" sz="1000" b="1" dirty="0"/>
              <a:t>Award Co-Chairs:</a:t>
            </a:r>
            <a:r>
              <a:rPr lang="en-US" sz="1000" dirty="0"/>
              <a:t> </a:t>
            </a:r>
          </a:p>
          <a:p>
            <a:pPr marL="171450" indent="-171450">
              <a:buFont typeface="Arial" panose="020B0604020202020204" pitchFamily="34" charset="0"/>
              <a:buChar char="•"/>
            </a:pPr>
            <a:r>
              <a:rPr lang="en-US" sz="1000" dirty="0"/>
              <a:t>Katell </a:t>
            </a:r>
            <a:r>
              <a:rPr lang="en-US" sz="1000" dirty="0" err="1"/>
              <a:t>Morin-Allory</a:t>
            </a:r>
            <a:r>
              <a:rPr lang="en-US" sz="1000" dirty="0"/>
              <a:t> (TIMA Laboratory, FR)</a:t>
            </a:r>
          </a:p>
          <a:p>
            <a:pPr marL="171450" indent="-171450">
              <a:buFont typeface="Arial" panose="020B0604020202020204" pitchFamily="34" charset="0"/>
              <a:buChar char="•"/>
            </a:pPr>
            <a:r>
              <a:rPr lang="en-US" sz="1000" dirty="0"/>
              <a:t>George Papadimitriou (University of Patras, GR)</a:t>
            </a:r>
          </a:p>
          <a:p>
            <a:pPr marL="171450" indent="-171450">
              <a:buFont typeface="Arial" panose="020B0604020202020204" pitchFamily="34" charset="0"/>
              <a:buChar char="•"/>
            </a:pPr>
            <a:r>
              <a:rPr lang="en-US" sz="1000" dirty="0"/>
              <a:t>Mohammad Iman (Université Grenoble Alpes, FR)</a:t>
            </a:r>
          </a:p>
          <a:p>
            <a:r>
              <a:rPr lang="en-US" sz="1000" b="1" dirty="0"/>
              <a:t>Ph.D. Forum Co-Chairs:</a:t>
            </a:r>
            <a:r>
              <a:rPr lang="en-US" sz="1000" dirty="0"/>
              <a:t> </a:t>
            </a:r>
          </a:p>
          <a:p>
            <a:pPr marL="171450" indent="-171450">
              <a:buFont typeface="Arial" panose="020B0604020202020204" pitchFamily="34" charset="0"/>
              <a:buChar char="•"/>
            </a:pPr>
            <a:r>
              <a:rPr lang="en-US" sz="1000" dirty="0"/>
              <a:t>Fatih Ugurdag (</a:t>
            </a:r>
            <a:r>
              <a:rPr lang="en-US" sz="1000" dirty="0" err="1"/>
              <a:t>Ozyegin</a:t>
            </a:r>
            <a:r>
              <a:rPr lang="en-US" sz="1000" dirty="0"/>
              <a:t> Univ., TR)</a:t>
            </a:r>
          </a:p>
          <a:p>
            <a:pPr marL="171450" indent="-171450">
              <a:buFont typeface="Arial" panose="020B0604020202020204" pitchFamily="34" charset="0"/>
              <a:buChar char="•"/>
            </a:pPr>
            <a:r>
              <a:rPr lang="es-ES" sz="1000" dirty="0"/>
              <a:t>Nahla El-Araby (TU </a:t>
            </a:r>
            <a:r>
              <a:rPr lang="es-ES" sz="1000" dirty="0" err="1"/>
              <a:t>Wein</a:t>
            </a:r>
            <a:r>
              <a:rPr lang="es-ES" sz="1000" dirty="0"/>
              <a:t>, AT)</a:t>
            </a:r>
            <a:endParaRPr lang="en-US" sz="1000" dirty="0"/>
          </a:p>
          <a:p>
            <a:r>
              <a:rPr lang="en-US" sz="1000" b="1" dirty="0"/>
              <a:t>Local Arrangements:</a:t>
            </a:r>
            <a:r>
              <a:rPr lang="en-US" sz="1000" dirty="0"/>
              <a:t> Nicolas Stratis, Petros Stratis (EasyConferences, CY)</a:t>
            </a:r>
          </a:p>
          <a:p>
            <a:r>
              <a:rPr lang="en-US" sz="1000" b="1" dirty="0"/>
              <a:t>Web Chair:</a:t>
            </a:r>
            <a:r>
              <a:rPr lang="en-US" sz="1000" dirty="0"/>
              <a:t> Matteo Iervasi (Univ. of Stavanger, NO)</a:t>
            </a:r>
          </a:p>
        </p:txBody>
      </p:sp>
      <p:sp>
        <p:nvSpPr>
          <p:cNvPr id="50" name="Rectangle 49">
            <a:extLst>
              <a:ext uri="{FF2B5EF4-FFF2-40B4-BE49-F238E27FC236}">
                <a16:creationId xmlns:a16="http://schemas.microsoft.com/office/drawing/2014/main" id="{0AF40757-0572-1282-D71B-4F90822A2CEF}"/>
              </a:ext>
            </a:extLst>
          </p:cNvPr>
          <p:cNvSpPr/>
          <p:nvPr/>
        </p:nvSpPr>
        <p:spPr>
          <a:xfrm>
            <a:off x="152401" y="64059"/>
            <a:ext cx="7559675" cy="128389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Google Shape;101;p1">
            <a:extLst>
              <a:ext uri="{FF2B5EF4-FFF2-40B4-BE49-F238E27FC236}">
                <a16:creationId xmlns:a16="http://schemas.microsoft.com/office/drawing/2014/main" id="{5D91C20E-2F48-3713-EFEA-CF4CF95FE27A}"/>
              </a:ext>
            </a:extLst>
          </p:cNvPr>
          <p:cNvSpPr/>
          <p:nvPr/>
        </p:nvSpPr>
        <p:spPr>
          <a:xfrm>
            <a:off x="260683" y="442253"/>
            <a:ext cx="2235309" cy="1010523"/>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rgbClr val="FF0000"/>
                </a:solidFill>
                <a:ea typeface="Century Gothic"/>
                <a:cs typeface="Century Gothic"/>
                <a:sym typeface="Century Gothic"/>
              </a:rPr>
              <a:t>VLSI-SoC 2026</a:t>
            </a:r>
          </a:p>
          <a:p>
            <a:pPr>
              <a:buSzPts val="1800"/>
            </a:pPr>
            <a:r>
              <a:rPr lang="en-US" sz="1000" b="1" dirty="0">
                <a:solidFill>
                  <a:sysClr val="windowText" lastClr="000000"/>
                </a:solidFill>
                <a:sym typeface="Century Gothic"/>
              </a:rPr>
              <a:t>October 11-14, 2026</a:t>
            </a:r>
          </a:p>
          <a:p>
            <a:pPr>
              <a:buSzPts val="1800"/>
            </a:pPr>
            <a:r>
              <a:rPr lang="en-US" sz="1000" b="1" dirty="0">
                <a:solidFill>
                  <a:sysClr val="windowText" lastClr="000000"/>
                </a:solidFill>
                <a:sym typeface="Century Gothic"/>
              </a:rPr>
              <a:t>Limassol, Cyprus</a:t>
            </a:r>
          </a:p>
          <a:p>
            <a:pPr>
              <a:buSzPts val="1800"/>
            </a:pPr>
            <a:r>
              <a:rPr lang="en-US" sz="1000" b="1" dirty="0">
                <a:solidFill>
                  <a:sysClr val="windowText" lastClr="000000"/>
                </a:solidFill>
                <a:sym typeface="Century Gothic"/>
                <a:hlinkClick r:id="rId4"/>
              </a:rPr>
              <a:t>www.vlsi-soc.com</a:t>
            </a:r>
            <a:r>
              <a:rPr lang="en-US" sz="1000" b="1" dirty="0">
                <a:solidFill>
                  <a:sysClr val="windowText" lastClr="000000"/>
                </a:solidFill>
                <a:sym typeface="Century Gothic"/>
              </a:rPr>
              <a:t> </a:t>
            </a:r>
            <a:endParaRPr lang="en-US" sz="1000" dirty="0">
              <a:solidFill>
                <a:sysClr val="windowText" lastClr="000000"/>
              </a:solidFill>
            </a:endParaRPr>
          </a:p>
        </p:txBody>
      </p:sp>
      <p:sp>
        <p:nvSpPr>
          <p:cNvPr id="31" name="TextBox 30">
            <a:extLst>
              <a:ext uri="{FF2B5EF4-FFF2-40B4-BE49-F238E27FC236}">
                <a16:creationId xmlns:a16="http://schemas.microsoft.com/office/drawing/2014/main" id="{17FA85CD-7504-2057-4D4B-7CC405178052}"/>
              </a:ext>
            </a:extLst>
          </p:cNvPr>
          <p:cNvSpPr txBox="1"/>
          <p:nvPr/>
        </p:nvSpPr>
        <p:spPr>
          <a:xfrm>
            <a:off x="3932426" y="1374032"/>
            <a:ext cx="3776472" cy="2092881"/>
          </a:xfrm>
          <a:prstGeom prst="rect">
            <a:avLst/>
          </a:prstGeom>
          <a:solidFill>
            <a:schemeClr val="bg1"/>
          </a:solidFill>
        </p:spPr>
        <p:txBody>
          <a:bodyPr wrap="square">
            <a:spAutoFit/>
          </a:bodyPr>
          <a:lstStyle/>
          <a:p>
            <a:pPr algn="just"/>
            <a:r>
              <a:rPr lang="en-US" sz="1000" dirty="0"/>
              <a:t>VLSI-SoC 2026 is the 34</a:t>
            </a:r>
            <a:r>
              <a:rPr lang="en-US" sz="1000" baseline="30000" dirty="0"/>
              <a:t>th</a:t>
            </a:r>
            <a:r>
              <a:rPr lang="en-US" sz="1000" dirty="0"/>
              <a:t> in a series of international conferences sponsored by IFIPTC 10 WG 10.5, IEEE CASS, IEEE CEDA and ACM SIGDA, which explores the state-of-the-art in the areas that surround Very Large Scale Integration (VLSI) and System-on-Chip (SoC). Previous conferences have taken place in Edinburgh, Trondheim, Tokyo, Vancouver, Munich, Grenoble, Gramado, Lisbon, Montpellier, Darmstadt, Perth, Nice, Atlanta, Rhodes, </a:t>
            </a:r>
            <a:r>
              <a:rPr lang="en-US" sz="1000" dirty="0" err="1"/>
              <a:t>Florianópolis</a:t>
            </a:r>
            <a:r>
              <a:rPr lang="en-US" sz="1000" dirty="0"/>
              <a:t>, Madrid, Hong Kong, Santa Cruz, Istanbul, Playa del Carmen, Daejeon, Tallinn, Abu Dhabi, Verona, Cuzco, Salt Lake City, Singapore, Patras, Sharjah, Tanger, and Puerto Varas. The 2026 edition will take place at Limassol, Cyprus, a tourist and top destination in Southeast Europe.</a:t>
            </a:r>
          </a:p>
        </p:txBody>
      </p:sp>
      <p:sp>
        <p:nvSpPr>
          <p:cNvPr id="24" name="TextBox 23">
            <a:extLst>
              <a:ext uri="{FF2B5EF4-FFF2-40B4-BE49-F238E27FC236}">
                <a16:creationId xmlns:a16="http://schemas.microsoft.com/office/drawing/2014/main" id="{5A64F2E9-384A-0C24-3795-8101C1332819}"/>
              </a:ext>
            </a:extLst>
          </p:cNvPr>
          <p:cNvSpPr txBox="1"/>
          <p:nvPr/>
        </p:nvSpPr>
        <p:spPr>
          <a:xfrm>
            <a:off x="3932426" y="5514786"/>
            <a:ext cx="3783203" cy="2092881"/>
          </a:xfrm>
          <a:prstGeom prst="rect">
            <a:avLst/>
          </a:prstGeom>
          <a:solidFill>
            <a:schemeClr val="accent4">
              <a:lumMod val="40000"/>
              <a:lumOff val="60000"/>
            </a:schemeClr>
          </a:solidFill>
        </p:spPr>
        <p:txBody>
          <a:bodyPr wrap="square">
            <a:spAutoFit/>
          </a:bodyPr>
          <a:lstStyle/>
          <a:p>
            <a:r>
              <a:rPr lang="en-US" sz="1000" b="1" dirty="0"/>
              <a:t>Topics of interest include (but not limited to) the following:</a:t>
            </a:r>
            <a:endParaRPr lang="en-US" sz="1000" dirty="0"/>
          </a:p>
          <a:p>
            <a:pPr marL="228600" indent="-228600">
              <a:buFont typeface="+mj-lt"/>
              <a:buAutoNum type="arabicPeriod"/>
            </a:pPr>
            <a:r>
              <a:rPr lang="en-US" sz="1000" dirty="0"/>
              <a:t>Applications and Architectures for AI and ML</a:t>
            </a:r>
          </a:p>
          <a:p>
            <a:pPr marL="228600" indent="-228600">
              <a:buFont typeface="+mj-lt"/>
              <a:buAutoNum type="arabicPeriod"/>
            </a:pPr>
            <a:r>
              <a:rPr lang="en-US" sz="1000" dirty="0"/>
              <a:t>Communication Architectures and Technologies</a:t>
            </a:r>
          </a:p>
          <a:p>
            <a:pPr marL="228600" indent="-228600">
              <a:buFont typeface="+mj-lt"/>
              <a:buAutoNum type="arabicPeriod"/>
            </a:pPr>
            <a:r>
              <a:rPr lang="en-US" sz="1000" dirty="0"/>
              <a:t>Computing Paradigms</a:t>
            </a:r>
          </a:p>
          <a:p>
            <a:pPr marL="228600" indent="-228600">
              <a:buFont typeface="+mj-lt"/>
              <a:buAutoNum type="arabicPeriod"/>
            </a:pPr>
            <a:r>
              <a:rPr lang="en-US" sz="1000" dirty="0"/>
              <a:t>Digital Circuits Design and Synthesis</a:t>
            </a:r>
          </a:p>
          <a:p>
            <a:pPr marL="228600" indent="-228600">
              <a:buFont typeface="+mj-lt"/>
              <a:buAutoNum type="arabicPeriod"/>
            </a:pPr>
            <a:r>
              <a:rPr lang="en-US" sz="1000" dirty="0"/>
              <a:t>Embedded System Design</a:t>
            </a:r>
          </a:p>
          <a:p>
            <a:pPr marL="228600" indent="-228600">
              <a:buFont typeface="+mj-lt"/>
              <a:buAutoNum type="arabicPeriod"/>
            </a:pPr>
            <a:r>
              <a:rPr lang="en-US" sz="1000" dirty="0"/>
              <a:t>Emerging Technologies and Applications</a:t>
            </a:r>
          </a:p>
          <a:p>
            <a:pPr marL="228600" indent="-228600">
              <a:buFont typeface="+mj-lt"/>
              <a:buAutoNum type="arabicPeriod"/>
            </a:pPr>
            <a:r>
              <a:rPr lang="en-US" sz="1000" dirty="0"/>
              <a:t>Low-Power, Energy-Efficient and Thermal-Aware Design</a:t>
            </a:r>
          </a:p>
          <a:p>
            <a:pPr marL="228600" indent="-228600">
              <a:buFont typeface="+mj-lt"/>
              <a:buAutoNum type="arabicPeriod"/>
            </a:pPr>
            <a:r>
              <a:rPr lang="en-US" sz="1000" dirty="0"/>
              <a:t>Security</a:t>
            </a:r>
          </a:p>
          <a:p>
            <a:pPr marL="228600" indent="-228600">
              <a:buFont typeface="+mj-lt"/>
              <a:buAutoNum type="arabicPeriod"/>
            </a:pPr>
            <a:r>
              <a:rPr lang="en-US" sz="1000" dirty="0"/>
              <a:t>Sensing and Signal Processing Technologies</a:t>
            </a:r>
          </a:p>
          <a:p>
            <a:pPr marL="228600" indent="-228600">
              <a:buFont typeface="+mj-lt"/>
              <a:buAutoNum type="arabicPeriod"/>
            </a:pPr>
            <a:r>
              <a:rPr lang="en-US" sz="1000" dirty="0"/>
              <a:t>Smart Systems, Devices and Applications</a:t>
            </a:r>
          </a:p>
          <a:p>
            <a:pPr marL="228600" indent="-228600">
              <a:buFont typeface="+mj-lt"/>
              <a:buAutoNum type="arabicPeriod"/>
            </a:pPr>
            <a:r>
              <a:rPr lang="en-US" sz="1000" dirty="0"/>
              <a:t>System Specification, Simulation and Verification</a:t>
            </a:r>
          </a:p>
          <a:p>
            <a:pPr marL="228600" indent="-228600">
              <a:buFont typeface="+mj-lt"/>
              <a:buAutoNum type="arabicPeriod"/>
            </a:pPr>
            <a:r>
              <a:rPr lang="en-US" sz="1000" dirty="0"/>
              <a:t>Test and Dependability</a:t>
            </a:r>
          </a:p>
        </p:txBody>
      </p:sp>
      <p:sp>
        <p:nvSpPr>
          <p:cNvPr id="40" name="TextBox 39">
            <a:extLst>
              <a:ext uri="{FF2B5EF4-FFF2-40B4-BE49-F238E27FC236}">
                <a16:creationId xmlns:a16="http://schemas.microsoft.com/office/drawing/2014/main" id="{C7EBDCCF-1A46-2250-D8BF-64FA78FC0642}"/>
              </a:ext>
            </a:extLst>
          </p:cNvPr>
          <p:cNvSpPr txBox="1"/>
          <p:nvPr/>
        </p:nvSpPr>
        <p:spPr>
          <a:xfrm>
            <a:off x="4621072" y="7607667"/>
            <a:ext cx="2928494" cy="1223412"/>
          </a:xfrm>
          <a:prstGeom prst="rect">
            <a:avLst/>
          </a:prstGeom>
          <a:noFill/>
        </p:spPr>
        <p:txBody>
          <a:bodyPr wrap="square">
            <a:spAutoFit/>
          </a:bodyPr>
          <a:lstStyle/>
          <a:p>
            <a:pPr eaLnBrk="0" fontAlgn="base" hangingPunct="0">
              <a:spcBef>
                <a:spcPct val="0"/>
              </a:spcBef>
              <a:spcAft>
                <a:spcPct val="0"/>
              </a:spcAft>
              <a:buClrTx/>
            </a:pPr>
            <a:r>
              <a:rPr lang="en-US" altLang="en-US" sz="1050" b="1" i="1" u="sng" dirty="0">
                <a:solidFill>
                  <a:srgbClr val="FF0000"/>
                </a:solidFill>
              </a:rPr>
              <a:t>Extended:</a:t>
            </a:r>
          </a:p>
          <a:p>
            <a:pPr eaLnBrk="0" fontAlgn="base" hangingPunct="0">
              <a:spcBef>
                <a:spcPct val="0"/>
              </a:spcBef>
              <a:spcAft>
                <a:spcPct val="0"/>
              </a:spcAft>
              <a:buClrTx/>
            </a:pPr>
            <a:r>
              <a:rPr lang="en-US" altLang="en-US" sz="1050" b="1" dirty="0">
                <a:solidFill>
                  <a:srgbClr val="212121"/>
                </a:solidFill>
              </a:rPr>
              <a:t>Abstract Deadline:	</a:t>
            </a:r>
            <a:r>
              <a:rPr lang="en-US" altLang="en-US" sz="1050" b="1" i="1" u="sng" dirty="0">
                <a:solidFill>
                  <a:srgbClr val="FF0000"/>
                </a:solidFill>
              </a:rPr>
              <a:t>04 May  2026</a:t>
            </a:r>
          </a:p>
          <a:p>
            <a:pPr eaLnBrk="0" fontAlgn="base" hangingPunct="0">
              <a:spcBef>
                <a:spcPct val="0"/>
              </a:spcBef>
              <a:spcAft>
                <a:spcPct val="0"/>
              </a:spcAft>
              <a:buClrTx/>
            </a:pPr>
            <a:r>
              <a:rPr lang="en-US" altLang="en-US" sz="1050" b="1" dirty="0">
                <a:solidFill>
                  <a:srgbClr val="212121"/>
                </a:solidFill>
              </a:rPr>
              <a:t>Full Paper Deadline: 	</a:t>
            </a:r>
            <a:r>
              <a:rPr lang="en-US" altLang="en-US" sz="1050" b="1" i="1" u="sng" dirty="0">
                <a:solidFill>
                  <a:srgbClr val="FF0000"/>
                </a:solidFill>
              </a:rPr>
              <a:t>11 May  2026</a:t>
            </a:r>
          </a:p>
          <a:p>
            <a:pPr eaLnBrk="0" fontAlgn="base" hangingPunct="0">
              <a:spcBef>
                <a:spcPct val="0"/>
              </a:spcBef>
              <a:spcAft>
                <a:spcPct val="0"/>
              </a:spcAft>
              <a:buClrTx/>
            </a:pPr>
            <a:r>
              <a:rPr lang="en-US" altLang="en-US" sz="1050" b="1" i="1" dirty="0">
                <a:solidFill>
                  <a:sysClr val="windowText" lastClr="000000"/>
                </a:solidFill>
              </a:rPr>
              <a:t>Special Session Deadline: 	</a:t>
            </a:r>
            <a:r>
              <a:rPr lang="en-US" altLang="en-US" sz="1050" b="1" i="1" u="sng" dirty="0">
                <a:solidFill>
                  <a:srgbClr val="FF0000"/>
                </a:solidFill>
              </a:rPr>
              <a:t>11 May 2026</a:t>
            </a:r>
          </a:p>
          <a:p>
            <a:pPr eaLnBrk="0" fontAlgn="base" hangingPunct="0">
              <a:spcBef>
                <a:spcPct val="0"/>
              </a:spcBef>
              <a:spcAft>
                <a:spcPct val="0"/>
              </a:spcAft>
              <a:buClrTx/>
            </a:pPr>
            <a:r>
              <a:rPr lang="en-US" altLang="en-US" sz="1050" b="1" dirty="0">
                <a:solidFill>
                  <a:srgbClr val="212121"/>
                </a:solidFill>
              </a:rPr>
              <a:t>Author Notification:  	</a:t>
            </a:r>
            <a:r>
              <a:rPr lang="en-US" altLang="en-US" sz="1050" b="1" i="1" u="sng" dirty="0">
                <a:solidFill>
                  <a:srgbClr val="FF0000"/>
                </a:solidFill>
              </a:rPr>
              <a:t>22 June 2026</a:t>
            </a:r>
          </a:p>
          <a:p>
            <a:pPr eaLnBrk="0" fontAlgn="base" hangingPunct="0">
              <a:spcBef>
                <a:spcPct val="0"/>
              </a:spcBef>
              <a:spcAft>
                <a:spcPct val="0"/>
              </a:spcAft>
              <a:buClrTx/>
            </a:pPr>
            <a:r>
              <a:rPr lang="en-US" altLang="en-US" sz="1050" b="1" i="1" dirty="0">
                <a:solidFill>
                  <a:sysClr val="windowText" lastClr="000000"/>
                </a:solidFill>
              </a:rPr>
              <a:t>PhD &amp; Student Forum: </a:t>
            </a:r>
            <a:r>
              <a:rPr lang="en-US" altLang="en-US" sz="1050" b="1" i="1" dirty="0">
                <a:solidFill>
                  <a:srgbClr val="FF0000"/>
                </a:solidFill>
              </a:rPr>
              <a:t>	02 July 2026</a:t>
            </a:r>
          </a:p>
          <a:p>
            <a:pPr eaLnBrk="0" fontAlgn="base" hangingPunct="0">
              <a:spcBef>
                <a:spcPct val="0"/>
              </a:spcBef>
              <a:spcAft>
                <a:spcPct val="0"/>
              </a:spcAft>
              <a:buClrTx/>
            </a:pPr>
            <a:r>
              <a:rPr lang="en-US" altLang="en-US" sz="1050" b="1" dirty="0">
                <a:solidFill>
                  <a:srgbClr val="212121"/>
                </a:solidFill>
              </a:rPr>
              <a:t>Camera Ready:        	</a:t>
            </a:r>
            <a:r>
              <a:rPr lang="en-US" altLang="en-US" sz="1050" b="1" u="sng" dirty="0">
                <a:solidFill>
                  <a:srgbClr val="FF0000"/>
                </a:solidFill>
              </a:rPr>
              <a:t>13 July  2026</a:t>
            </a:r>
          </a:p>
        </p:txBody>
      </p:sp>
      <p:pic>
        <p:nvPicPr>
          <p:cNvPr id="8" name="Picture 7">
            <a:extLst>
              <a:ext uri="{FF2B5EF4-FFF2-40B4-BE49-F238E27FC236}">
                <a16:creationId xmlns:a16="http://schemas.microsoft.com/office/drawing/2014/main" id="{A93CCF40-F463-FB7D-BAD7-2ECFC27A46D8}"/>
              </a:ext>
            </a:extLst>
          </p:cNvPr>
          <p:cNvPicPr>
            <a:picLocks noChangeAspect="1"/>
          </p:cNvPicPr>
          <p:nvPr/>
        </p:nvPicPr>
        <p:blipFill rotWithShape="1">
          <a:blip r:embed="rId5">
            <a:extLst>
              <a:ext uri="{28A0092B-C50C-407E-A947-70E740481C1C}">
                <a14:useLocalDpi xmlns:a14="http://schemas.microsoft.com/office/drawing/2010/main" val="0"/>
              </a:ext>
            </a:extLst>
          </a:blip>
          <a:srcRect t="461"/>
          <a:stretch/>
        </p:blipFill>
        <p:spPr>
          <a:xfrm>
            <a:off x="3932426" y="3403196"/>
            <a:ext cx="3776472" cy="2123871"/>
          </a:xfrm>
          <a:prstGeom prst="rect">
            <a:avLst/>
          </a:prstGeom>
        </p:spPr>
      </p:pic>
      <p:sp>
        <p:nvSpPr>
          <p:cNvPr id="47" name="Google Shape;101;p1">
            <a:extLst>
              <a:ext uri="{FF2B5EF4-FFF2-40B4-BE49-F238E27FC236}">
                <a16:creationId xmlns:a16="http://schemas.microsoft.com/office/drawing/2014/main" id="{C7478E35-2D04-A65C-85F5-25D06D184E84}"/>
              </a:ext>
            </a:extLst>
          </p:cNvPr>
          <p:cNvSpPr/>
          <p:nvPr/>
        </p:nvSpPr>
        <p:spPr>
          <a:xfrm>
            <a:off x="260681" y="69713"/>
            <a:ext cx="4203282" cy="58168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ysClr val="windowText" lastClr="000000"/>
                </a:solidFill>
                <a:ea typeface="Century Gothic"/>
                <a:cs typeface="Century Gothic"/>
                <a:sym typeface="Century Gothic"/>
              </a:rPr>
              <a:t>34</a:t>
            </a:r>
            <a:r>
              <a:rPr lang="en-US" sz="1600" b="1" baseline="30000" dirty="0">
                <a:solidFill>
                  <a:sysClr val="windowText" lastClr="000000"/>
                </a:solidFill>
                <a:ea typeface="Century Gothic"/>
                <a:cs typeface="Century Gothic"/>
                <a:sym typeface="Century Gothic"/>
              </a:rPr>
              <a:t>th</a:t>
            </a:r>
            <a:r>
              <a:rPr lang="en-US" sz="1600" b="1" dirty="0">
                <a:solidFill>
                  <a:sysClr val="windowText" lastClr="000000"/>
                </a:solidFill>
                <a:ea typeface="Century Gothic"/>
                <a:cs typeface="Century Gothic"/>
                <a:sym typeface="Century Gothic"/>
              </a:rPr>
              <a:t> IFIP/IEEE International Conference on Very Large-Scale Integration</a:t>
            </a:r>
            <a:endParaRPr lang="en-US" sz="1600" dirty="0">
              <a:solidFill>
                <a:sysClr val="windowText" lastClr="000000"/>
              </a:solidFill>
            </a:endParaRPr>
          </a:p>
        </p:txBody>
      </p:sp>
      <p:sp>
        <p:nvSpPr>
          <p:cNvPr id="7" name="Flowchart: Document 6">
            <a:extLst>
              <a:ext uri="{FF2B5EF4-FFF2-40B4-BE49-F238E27FC236}">
                <a16:creationId xmlns:a16="http://schemas.microsoft.com/office/drawing/2014/main" id="{E31335EE-6EEC-D948-66B2-84C0D2BBB258}"/>
              </a:ext>
            </a:extLst>
          </p:cNvPr>
          <p:cNvSpPr/>
          <p:nvPr/>
        </p:nvSpPr>
        <p:spPr>
          <a:xfrm>
            <a:off x="152398" y="1374031"/>
            <a:ext cx="3783203" cy="2602371"/>
          </a:xfrm>
          <a:prstGeom prst="flowChartDocument">
            <a:avLst/>
          </a:prstGeom>
          <a:blipFill dpi="0" rotWithShape="1">
            <a:blip r:embed="rId6">
              <a:extLst>
                <a:ext uri="{28A0092B-C50C-407E-A947-70E740481C1C}">
                  <a14:useLocalDpi xmlns:a14="http://schemas.microsoft.com/office/drawing/2010/main" val="0"/>
                </a:ext>
              </a:extLst>
            </a:blip>
            <a:srcRect/>
            <a:stretch>
              <a:fillRect t="-20062" b="2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18F9C9A8-58BE-08D0-A398-4C8A55251B6C}"/>
              </a:ext>
            </a:extLst>
          </p:cNvPr>
          <p:cNvSpPr txBox="1"/>
          <p:nvPr/>
        </p:nvSpPr>
        <p:spPr>
          <a:xfrm>
            <a:off x="152399" y="3403194"/>
            <a:ext cx="3780366" cy="4401205"/>
          </a:xfrm>
          <a:prstGeom prst="rect">
            <a:avLst/>
          </a:prstGeom>
          <a:solidFill>
            <a:schemeClr val="accent6">
              <a:lumMod val="40000"/>
              <a:lumOff val="60000"/>
            </a:schemeClr>
          </a:solidFill>
        </p:spPr>
        <p:txBody>
          <a:bodyPr wrap="square">
            <a:spAutoFit/>
          </a:bodyPr>
          <a:lstStyle/>
          <a:p>
            <a:pPr algn="just"/>
            <a:r>
              <a:rPr lang="en-US" sz="1000" b="1" i="1" dirty="0"/>
              <a:t>Paper Submission</a:t>
            </a:r>
            <a:r>
              <a:rPr lang="en-US" sz="1000" b="1" dirty="0"/>
              <a:t>:</a:t>
            </a:r>
            <a:r>
              <a:rPr lang="en-US" sz="1000" dirty="0"/>
              <a:t> Papers should present original research and industrial results not published or submitted for publication in other forums. Electronic submission in PDF format to the </a:t>
            </a:r>
            <a:r>
              <a:rPr lang="en-US" sz="1000" dirty="0" err="1"/>
              <a:t>EasyChair</a:t>
            </a:r>
            <a:r>
              <a:rPr lang="en-US" sz="1000" dirty="0"/>
              <a:t> platform for VLSI-SoC 2026 is required. The proceedings will be published by IEEE and will be made available through IEEE Xplore. Accepted Regular </a:t>
            </a:r>
            <a:r>
              <a:rPr lang="en-US" sz="1000"/>
              <a:t>track papers </a:t>
            </a:r>
            <a:r>
              <a:rPr lang="en-US" sz="1000" dirty="0"/>
              <a:t>will be invited to be submitted to a special issue of the ACM Journal on Emerging Technologies in Computing Systems. Papers from special sessions will be invited to submit an extended version to be included as chapters of a book to be published by Springer.</a:t>
            </a:r>
          </a:p>
          <a:p>
            <a:pPr algn="just"/>
            <a:r>
              <a:rPr lang="en-US" sz="1000" b="1" i="1" dirty="0"/>
              <a:t>Paper Format:</a:t>
            </a:r>
            <a:r>
              <a:rPr lang="en-US" sz="1000" dirty="0"/>
              <a:t> Papers should not exceed 4 pages + 1 page with only references (single-spaced, 2 columns, 10pt font). Submissions should be camera-ready, following the IEEE proceedings specifications.</a:t>
            </a:r>
          </a:p>
          <a:p>
            <a:pPr algn="just"/>
            <a:r>
              <a:rPr lang="en-US" sz="1000" b="1" i="1" dirty="0"/>
              <a:t>Paper Publication and Presenter Registration:</a:t>
            </a:r>
            <a:r>
              <a:rPr lang="en-US" sz="1000" dirty="0"/>
              <a:t> Papers will be accepted for regular or poster presentation at the conference. Every accepted paper MUST have at least one author registered (full rate) at the conference by the time the camera-ready paper is submitted; the registered author is also expected to attend the conference and present the paper. A limited number of travel grants are available to needy PhD students from emerging countries.</a:t>
            </a:r>
          </a:p>
          <a:p>
            <a:pPr algn="just"/>
            <a:r>
              <a:rPr lang="en-US" sz="1000" b="1" i="1" dirty="0"/>
              <a:t>PhD &amp; Student Forum:</a:t>
            </a:r>
            <a:r>
              <a:rPr lang="en-US" sz="1000" dirty="0"/>
              <a:t> A dedicated poster session will be included in the technical program of the main conference. The Best PhD &amp; Student Forum winner will be invited to submit an extended version to be included as chapters of a book to be published by Springer.</a:t>
            </a:r>
          </a:p>
        </p:txBody>
      </p:sp>
      <p:pic>
        <p:nvPicPr>
          <p:cNvPr id="9" name="Picture 8">
            <a:extLst>
              <a:ext uri="{FF2B5EF4-FFF2-40B4-BE49-F238E27FC236}">
                <a16:creationId xmlns:a16="http://schemas.microsoft.com/office/drawing/2014/main" id="{2AA0D030-7A9A-246A-8F33-1E2574EAE379}"/>
              </a:ext>
            </a:extLst>
          </p:cNvPr>
          <p:cNvPicPr>
            <a:picLocks noChangeAspect="1"/>
          </p:cNvPicPr>
          <p:nvPr/>
        </p:nvPicPr>
        <p:blipFill>
          <a:blip r:embed="rId7"/>
          <a:srcRect/>
          <a:stretch/>
        </p:blipFill>
        <p:spPr>
          <a:xfrm>
            <a:off x="3521982" y="7616114"/>
            <a:ext cx="1081102" cy="1072566"/>
          </a:xfrm>
          <a:prstGeom prst="rect">
            <a:avLst/>
          </a:prstGeom>
        </p:spPr>
      </p:pic>
      <p:grpSp>
        <p:nvGrpSpPr>
          <p:cNvPr id="4" name="Group 3">
            <a:extLst>
              <a:ext uri="{FF2B5EF4-FFF2-40B4-BE49-F238E27FC236}">
                <a16:creationId xmlns:a16="http://schemas.microsoft.com/office/drawing/2014/main" id="{A7946FED-B572-5584-88D7-FC41DB9BABEC}"/>
              </a:ext>
            </a:extLst>
          </p:cNvPr>
          <p:cNvGrpSpPr/>
          <p:nvPr/>
        </p:nvGrpSpPr>
        <p:grpSpPr>
          <a:xfrm>
            <a:off x="3472974" y="500167"/>
            <a:ext cx="3513253" cy="829541"/>
            <a:chOff x="3472974" y="500167"/>
            <a:chExt cx="3513253" cy="829541"/>
          </a:xfrm>
        </p:grpSpPr>
        <p:pic>
          <p:nvPicPr>
            <p:cNvPr id="20" name="Picture 19">
              <a:extLst>
                <a:ext uri="{FF2B5EF4-FFF2-40B4-BE49-F238E27FC236}">
                  <a16:creationId xmlns:a16="http://schemas.microsoft.com/office/drawing/2014/main" id="{A6899557-EBE9-482A-CA0C-DE35410142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13648" y="535912"/>
              <a:ext cx="794087" cy="440573"/>
            </a:xfrm>
            <a:prstGeom prst="rect">
              <a:avLst/>
            </a:prstGeom>
          </p:spPr>
        </p:pic>
        <p:pic>
          <p:nvPicPr>
            <p:cNvPr id="22" name="Picture 2">
              <a:extLst>
                <a:ext uri="{FF2B5EF4-FFF2-40B4-BE49-F238E27FC236}">
                  <a16:creationId xmlns:a16="http://schemas.microsoft.com/office/drawing/2014/main" id="{5E321FB2-6017-49C3-DD4A-05723981D0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9795" y="500167"/>
              <a:ext cx="409651" cy="51206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AFBD86E0-19CC-D226-A609-C62B253ED3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3167" y="572668"/>
              <a:ext cx="1123060" cy="36706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blue and white logo&#10;&#10;AI-generated content may be incorrect.">
              <a:extLst>
                <a:ext uri="{FF2B5EF4-FFF2-40B4-BE49-F238E27FC236}">
                  <a16:creationId xmlns:a16="http://schemas.microsoft.com/office/drawing/2014/main" id="{FCCC102E-4FF3-8B5F-8F4C-326EABABAB67}"/>
                </a:ext>
              </a:extLst>
            </p:cNvPr>
            <p:cNvPicPr>
              <a:picLocks noChangeAspect="1"/>
            </p:cNvPicPr>
            <p:nvPr/>
          </p:nvPicPr>
          <p:blipFill>
            <a:blip r:embed="rId11"/>
            <a:stretch>
              <a:fillRect/>
            </a:stretch>
          </p:blipFill>
          <p:spPr>
            <a:xfrm>
              <a:off x="5051874" y="988387"/>
              <a:ext cx="601014" cy="312527"/>
            </a:xfrm>
            <a:prstGeom prst="rect">
              <a:avLst/>
            </a:prstGeom>
          </p:spPr>
        </p:pic>
        <p:pic>
          <p:nvPicPr>
            <p:cNvPr id="28" name="Picture 27" descr="A green and black logo&#10;&#10;AI-generated content may be incorrect.">
              <a:extLst>
                <a:ext uri="{FF2B5EF4-FFF2-40B4-BE49-F238E27FC236}">
                  <a16:creationId xmlns:a16="http://schemas.microsoft.com/office/drawing/2014/main" id="{1D8E87D1-4064-EC02-B06A-46BEE61F4007}"/>
                </a:ext>
              </a:extLst>
            </p:cNvPr>
            <p:cNvPicPr>
              <a:picLocks noChangeAspect="1"/>
            </p:cNvPicPr>
            <p:nvPr/>
          </p:nvPicPr>
          <p:blipFill>
            <a:blip r:embed="rId12"/>
            <a:srcRect l="15592" r="22816"/>
            <a:stretch>
              <a:fillRect/>
            </a:stretch>
          </p:blipFill>
          <p:spPr>
            <a:xfrm>
              <a:off x="5768833" y="971650"/>
              <a:ext cx="409826" cy="346000"/>
            </a:xfrm>
            <a:prstGeom prst="rect">
              <a:avLst/>
            </a:prstGeom>
          </p:spPr>
        </p:pic>
        <p:pic>
          <p:nvPicPr>
            <p:cNvPr id="30" name="Picture 29" descr="A blue logo on a black background&#10;&#10;AI-generated content may be incorrect.">
              <a:extLst>
                <a:ext uri="{FF2B5EF4-FFF2-40B4-BE49-F238E27FC236}">
                  <a16:creationId xmlns:a16="http://schemas.microsoft.com/office/drawing/2014/main" id="{D5AF58FD-A36A-977A-D2DB-4797214F8305}"/>
                </a:ext>
              </a:extLst>
            </p:cNvPr>
            <p:cNvPicPr>
              <a:picLocks noChangeAspect="1"/>
            </p:cNvPicPr>
            <p:nvPr/>
          </p:nvPicPr>
          <p:blipFill>
            <a:blip r:embed="rId13"/>
            <a:stretch>
              <a:fillRect/>
            </a:stretch>
          </p:blipFill>
          <p:spPr>
            <a:xfrm>
              <a:off x="4270546" y="971651"/>
              <a:ext cx="665383" cy="345999"/>
            </a:xfrm>
            <a:prstGeom prst="rect">
              <a:avLst/>
            </a:prstGeom>
          </p:spPr>
        </p:pic>
        <p:pic>
          <p:nvPicPr>
            <p:cNvPr id="32" name="Picture 31" descr="A logo with a black background&#10;&#10;AI-generated content may be incorrect.">
              <a:extLst>
                <a:ext uri="{FF2B5EF4-FFF2-40B4-BE49-F238E27FC236}">
                  <a16:creationId xmlns:a16="http://schemas.microsoft.com/office/drawing/2014/main" id="{49349A5F-351D-16C2-4771-A49C94E9EF37}"/>
                </a:ext>
              </a:extLst>
            </p:cNvPr>
            <p:cNvPicPr>
              <a:picLocks noChangeAspect="1"/>
            </p:cNvPicPr>
            <p:nvPr/>
          </p:nvPicPr>
          <p:blipFill>
            <a:blip r:embed="rId14"/>
            <a:stretch>
              <a:fillRect/>
            </a:stretch>
          </p:blipFill>
          <p:spPr>
            <a:xfrm>
              <a:off x="3472974" y="967427"/>
              <a:ext cx="681627" cy="354446"/>
            </a:xfrm>
            <a:prstGeom prst="rect">
              <a:avLst/>
            </a:prstGeom>
          </p:spPr>
        </p:pic>
        <p:pic>
          <p:nvPicPr>
            <p:cNvPr id="1026" name="Picture 2" descr="I-Form">
              <a:extLst>
                <a:ext uri="{FF2B5EF4-FFF2-40B4-BE49-F238E27FC236}">
                  <a16:creationId xmlns:a16="http://schemas.microsoft.com/office/drawing/2014/main" id="{96E77804-4D2F-A26A-E37C-95733E76910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94603" y="959593"/>
              <a:ext cx="685397" cy="3701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iS_landscape_logo_positive_RGB_English">
              <a:extLst>
                <a:ext uri="{FF2B5EF4-FFF2-40B4-BE49-F238E27FC236}">
                  <a16:creationId xmlns:a16="http://schemas.microsoft.com/office/drawing/2014/main" id="{2F7784A4-CD8F-2956-5470-3AC970633910}"/>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12173" t="16852" r="15160" b="19124"/>
            <a:stretch/>
          </p:blipFill>
          <p:spPr bwMode="auto">
            <a:xfrm>
              <a:off x="4961506" y="599935"/>
              <a:ext cx="779602" cy="312527"/>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Picture 2" descr="A close-up of a logo&#10;&#10;AI-generated content may be incorrect.">
            <a:extLst>
              <a:ext uri="{FF2B5EF4-FFF2-40B4-BE49-F238E27FC236}">
                <a16:creationId xmlns:a16="http://schemas.microsoft.com/office/drawing/2014/main" id="{D2C99A03-73ED-3014-1E6C-1499B667423D}"/>
              </a:ext>
            </a:extLst>
          </p:cNvPr>
          <p:cNvPicPr>
            <a:picLocks noChangeAspect="1"/>
          </p:cNvPicPr>
          <p:nvPr/>
        </p:nvPicPr>
        <p:blipFill>
          <a:blip r:embed="rId17"/>
          <a:stretch>
            <a:fillRect/>
          </a:stretch>
        </p:blipFill>
        <p:spPr>
          <a:xfrm>
            <a:off x="6122020" y="64059"/>
            <a:ext cx="1586690" cy="825079"/>
          </a:xfrm>
          <a:prstGeom prst="rect">
            <a:avLst/>
          </a:prstGeom>
        </p:spPr>
      </p:pic>
      <p:sp>
        <p:nvSpPr>
          <p:cNvPr id="11" name="Arrow: Right 10">
            <a:extLst>
              <a:ext uri="{FF2B5EF4-FFF2-40B4-BE49-F238E27FC236}">
                <a16:creationId xmlns:a16="http://schemas.microsoft.com/office/drawing/2014/main" id="{3C044DFD-0FC0-1F97-B0C0-9B9CA5D63067}"/>
              </a:ext>
            </a:extLst>
          </p:cNvPr>
          <p:cNvSpPr/>
          <p:nvPr/>
        </p:nvSpPr>
        <p:spPr>
          <a:xfrm>
            <a:off x="7124425" y="7128750"/>
            <a:ext cx="591203" cy="4182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FAA95E9-A4FE-EFCD-D4B4-D218D050AB28}"/>
              </a:ext>
            </a:extLst>
          </p:cNvPr>
          <p:cNvSpPr txBox="1"/>
          <p:nvPr/>
        </p:nvSpPr>
        <p:spPr>
          <a:xfrm>
            <a:off x="6808961" y="6966546"/>
            <a:ext cx="884475" cy="756169"/>
          </a:xfrm>
          <a:prstGeom prst="rect">
            <a:avLst/>
          </a:prstGeom>
          <a:noFill/>
        </p:spPr>
        <p:txBody>
          <a:bodyPr wrap="square" rtlCol="0">
            <a:spAutoFit/>
          </a:bodyPr>
          <a:lstStyle/>
          <a:p>
            <a:pPr algn="ctr"/>
            <a:r>
              <a:rPr lang="en-US" b="1" dirty="0"/>
              <a:t>Look </a:t>
            </a:r>
          </a:p>
          <a:p>
            <a:pPr algn="ctr"/>
            <a:endParaRPr lang="en-US" b="1" dirty="0"/>
          </a:p>
          <a:p>
            <a:pPr algn="ctr"/>
            <a:r>
              <a:rPr lang="en-US" b="1" dirty="0"/>
              <a:t>Back</a:t>
            </a:r>
          </a:p>
        </p:txBody>
      </p:sp>
    </p:spTree>
    <p:extLst>
      <p:ext uri="{BB962C8B-B14F-4D97-AF65-F5344CB8AC3E}">
        <p14:creationId xmlns:p14="http://schemas.microsoft.com/office/powerpoint/2010/main" val="2947349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C47D38E-6C74-6A7E-7164-BBD9CAE38A44}"/>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8F6A057A-EA18-2686-873C-943120788E4C}"/>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8983" b="479"/>
          <a:stretch/>
        </p:blipFill>
        <p:spPr>
          <a:xfrm>
            <a:off x="152397" y="5951503"/>
            <a:ext cx="7556311" cy="4770238"/>
          </a:xfrm>
          <a:prstGeom prst="flowChartDocument">
            <a:avLst/>
          </a:prstGeom>
        </p:spPr>
      </p:pic>
      <p:sp>
        <p:nvSpPr>
          <p:cNvPr id="63" name="Flowchart: Document 62">
            <a:extLst>
              <a:ext uri="{FF2B5EF4-FFF2-40B4-BE49-F238E27FC236}">
                <a16:creationId xmlns:a16="http://schemas.microsoft.com/office/drawing/2014/main" id="{24183EE7-101C-7C23-F600-6EE8C94ADCD6}"/>
              </a:ext>
            </a:extLst>
          </p:cNvPr>
          <p:cNvSpPr/>
          <p:nvPr/>
        </p:nvSpPr>
        <p:spPr>
          <a:xfrm>
            <a:off x="152398" y="1374031"/>
            <a:ext cx="7556312" cy="4508053"/>
          </a:xfrm>
          <a:prstGeom prst="flowChartDocument">
            <a:avLst/>
          </a:prstGeom>
          <a:blipFill dpi="0" rotWithShape="1">
            <a:blip r:embed="rId4">
              <a:alphaModFix amt="20000"/>
              <a:extLst>
                <a:ext uri="{28A0092B-C50C-407E-A947-70E740481C1C}">
                  <a14:useLocalDpi xmlns:a14="http://schemas.microsoft.com/office/drawing/2010/main" val="0"/>
                </a:ext>
              </a:extLst>
            </a:blip>
            <a:srcRect/>
            <a:stretch>
              <a:fillRect t="-20062" b="2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B7896858-DC21-91A2-2AA8-EA01F768607B}"/>
              </a:ext>
            </a:extLst>
          </p:cNvPr>
          <p:cNvSpPr/>
          <p:nvPr/>
        </p:nvSpPr>
        <p:spPr>
          <a:xfrm>
            <a:off x="152401" y="64059"/>
            <a:ext cx="7559675" cy="128389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Google Shape;101;p1">
            <a:extLst>
              <a:ext uri="{FF2B5EF4-FFF2-40B4-BE49-F238E27FC236}">
                <a16:creationId xmlns:a16="http://schemas.microsoft.com/office/drawing/2014/main" id="{C393F0F7-7B49-E5DC-D13B-F36D9131532D}"/>
              </a:ext>
            </a:extLst>
          </p:cNvPr>
          <p:cNvSpPr/>
          <p:nvPr/>
        </p:nvSpPr>
        <p:spPr>
          <a:xfrm>
            <a:off x="260683" y="442253"/>
            <a:ext cx="2235309" cy="1010523"/>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rgbClr val="FF0000"/>
                </a:solidFill>
                <a:ea typeface="Century Gothic"/>
                <a:cs typeface="Century Gothic"/>
                <a:sym typeface="Century Gothic"/>
              </a:rPr>
              <a:t>VLSI-SoC 2026</a:t>
            </a:r>
          </a:p>
          <a:p>
            <a:pPr>
              <a:buSzPts val="1800"/>
            </a:pPr>
            <a:r>
              <a:rPr lang="en-US" sz="1000" b="1" dirty="0">
                <a:solidFill>
                  <a:sysClr val="windowText" lastClr="000000"/>
                </a:solidFill>
                <a:sym typeface="Century Gothic"/>
              </a:rPr>
              <a:t>October 11-14, 2026</a:t>
            </a:r>
          </a:p>
          <a:p>
            <a:pPr>
              <a:buSzPts val="1800"/>
            </a:pPr>
            <a:r>
              <a:rPr lang="en-US" sz="1000" b="1" dirty="0">
                <a:solidFill>
                  <a:sysClr val="windowText" lastClr="000000"/>
                </a:solidFill>
                <a:sym typeface="Century Gothic"/>
              </a:rPr>
              <a:t>Limassol, Cyprus</a:t>
            </a:r>
          </a:p>
          <a:p>
            <a:pPr>
              <a:buSzPts val="1800"/>
            </a:pPr>
            <a:r>
              <a:rPr lang="en-US" sz="1000" b="1" dirty="0">
                <a:solidFill>
                  <a:sysClr val="windowText" lastClr="000000"/>
                </a:solidFill>
                <a:sym typeface="Century Gothic"/>
                <a:hlinkClick r:id="rId5"/>
              </a:rPr>
              <a:t>www.vlsi-soc.com</a:t>
            </a:r>
            <a:r>
              <a:rPr lang="en-US" sz="1000" b="1" dirty="0">
                <a:solidFill>
                  <a:sysClr val="windowText" lastClr="000000"/>
                </a:solidFill>
                <a:sym typeface="Century Gothic"/>
              </a:rPr>
              <a:t> </a:t>
            </a:r>
            <a:endParaRPr lang="en-US" sz="1000" dirty="0">
              <a:solidFill>
                <a:sysClr val="windowText" lastClr="000000"/>
              </a:solidFill>
            </a:endParaRPr>
          </a:p>
        </p:txBody>
      </p:sp>
      <p:sp>
        <p:nvSpPr>
          <p:cNvPr id="47" name="Google Shape;101;p1">
            <a:extLst>
              <a:ext uri="{FF2B5EF4-FFF2-40B4-BE49-F238E27FC236}">
                <a16:creationId xmlns:a16="http://schemas.microsoft.com/office/drawing/2014/main" id="{97F42578-45BD-7477-CD13-D9B316B35DDD}"/>
              </a:ext>
            </a:extLst>
          </p:cNvPr>
          <p:cNvSpPr/>
          <p:nvPr/>
        </p:nvSpPr>
        <p:spPr>
          <a:xfrm>
            <a:off x="260681" y="69713"/>
            <a:ext cx="4203282" cy="581688"/>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ctr" anchorCtr="0">
            <a:noAutofit/>
          </a:bodyPr>
          <a:lstStyle/>
          <a:p>
            <a:pPr>
              <a:buSzPts val="1800"/>
            </a:pPr>
            <a:r>
              <a:rPr lang="en-US" sz="1600" b="1" dirty="0">
                <a:solidFill>
                  <a:sysClr val="windowText" lastClr="000000"/>
                </a:solidFill>
                <a:ea typeface="Century Gothic"/>
                <a:cs typeface="Century Gothic"/>
                <a:sym typeface="Century Gothic"/>
              </a:rPr>
              <a:t>34</a:t>
            </a:r>
            <a:r>
              <a:rPr lang="en-US" sz="1600" b="1" baseline="30000" dirty="0">
                <a:solidFill>
                  <a:sysClr val="windowText" lastClr="000000"/>
                </a:solidFill>
                <a:ea typeface="Century Gothic"/>
                <a:cs typeface="Century Gothic"/>
                <a:sym typeface="Century Gothic"/>
              </a:rPr>
              <a:t>th</a:t>
            </a:r>
            <a:r>
              <a:rPr lang="en-US" sz="1600" b="1" dirty="0">
                <a:solidFill>
                  <a:sysClr val="windowText" lastClr="000000"/>
                </a:solidFill>
                <a:ea typeface="Century Gothic"/>
                <a:cs typeface="Century Gothic"/>
                <a:sym typeface="Century Gothic"/>
              </a:rPr>
              <a:t> IFIP/IEEE International Conference on Very Large-Scale Integration</a:t>
            </a:r>
            <a:endParaRPr lang="en-US" sz="1600" dirty="0">
              <a:solidFill>
                <a:sysClr val="windowText" lastClr="000000"/>
              </a:solidFill>
            </a:endParaRPr>
          </a:p>
        </p:txBody>
      </p:sp>
      <p:pic>
        <p:nvPicPr>
          <p:cNvPr id="3" name="Picture 2" descr="A close-up of a logo&#10;&#10;AI-generated content may be incorrect.">
            <a:extLst>
              <a:ext uri="{FF2B5EF4-FFF2-40B4-BE49-F238E27FC236}">
                <a16:creationId xmlns:a16="http://schemas.microsoft.com/office/drawing/2014/main" id="{219877C6-FA60-D5C5-DE97-1F0E2E3F8D74}"/>
              </a:ext>
            </a:extLst>
          </p:cNvPr>
          <p:cNvPicPr>
            <a:picLocks noChangeAspect="1"/>
          </p:cNvPicPr>
          <p:nvPr/>
        </p:nvPicPr>
        <p:blipFill>
          <a:blip r:embed="rId6"/>
          <a:stretch>
            <a:fillRect/>
          </a:stretch>
        </p:blipFill>
        <p:spPr>
          <a:xfrm>
            <a:off x="6122020" y="64059"/>
            <a:ext cx="1586690" cy="825079"/>
          </a:xfrm>
          <a:prstGeom prst="rect">
            <a:avLst/>
          </a:prstGeom>
        </p:spPr>
      </p:pic>
      <p:sp>
        <p:nvSpPr>
          <p:cNvPr id="34" name="TextBox 33">
            <a:extLst>
              <a:ext uri="{FF2B5EF4-FFF2-40B4-BE49-F238E27FC236}">
                <a16:creationId xmlns:a16="http://schemas.microsoft.com/office/drawing/2014/main" id="{819F675E-1249-A3C2-067D-F9CC98C13BF4}"/>
              </a:ext>
            </a:extLst>
          </p:cNvPr>
          <p:cNvSpPr txBox="1"/>
          <p:nvPr/>
        </p:nvSpPr>
        <p:spPr>
          <a:xfrm>
            <a:off x="4068853" y="1425331"/>
            <a:ext cx="3531536" cy="307777"/>
          </a:xfrm>
          <a:prstGeom prst="rect">
            <a:avLst/>
          </a:prstGeom>
          <a:noFill/>
        </p:spPr>
        <p:txBody>
          <a:bodyPr wrap="square">
            <a:spAutoFit/>
          </a:bodyPr>
          <a:lstStyle/>
          <a:p>
            <a:pPr algn="ctr"/>
            <a:r>
              <a:rPr lang="it-IT" sz="1400" b="1" dirty="0"/>
              <a:t>Confirmed Industrial Keynote Speakers</a:t>
            </a:r>
            <a:endParaRPr lang="en-US" sz="1400" b="1" dirty="0"/>
          </a:p>
        </p:txBody>
      </p:sp>
      <p:sp>
        <p:nvSpPr>
          <p:cNvPr id="27" name="TextBox 26">
            <a:extLst>
              <a:ext uri="{FF2B5EF4-FFF2-40B4-BE49-F238E27FC236}">
                <a16:creationId xmlns:a16="http://schemas.microsoft.com/office/drawing/2014/main" id="{4590179C-4C5B-208B-217D-2E45830D4C1E}"/>
              </a:ext>
            </a:extLst>
          </p:cNvPr>
          <p:cNvSpPr txBox="1"/>
          <p:nvPr/>
        </p:nvSpPr>
        <p:spPr>
          <a:xfrm>
            <a:off x="237878" y="1429574"/>
            <a:ext cx="3557744" cy="307777"/>
          </a:xfrm>
          <a:prstGeom prst="rect">
            <a:avLst/>
          </a:prstGeom>
          <a:noFill/>
        </p:spPr>
        <p:txBody>
          <a:bodyPr wrap="square">
            <a:spAutoFit/>
          </a:bodyPr>
          <a:lstStyle/>
          <a:p>
            <a:pPr algn="ctr"/>
            <a:r>
              <a:rPr lang="it-IT" sz="1400" b="1" dirty="0"/>
              <a:t>Confirmed Keynote Speakers</a:t>
            </a:r>
            <a:endParaRPr lang="en-US" sz="1400" b="1" dirty="0"/>
          </a:p>
        </p:txBody>
      </p:sp>
      <p:sp>
        <p:nvSpPr>
          <p:cNvPr id="24" name="TextBox 23">
            <a:extLst>
              <a:ext uri="{FF2B5EF4-FFF2-40B4-BE49-F238E27FC236}">
                <a16:creationId xmlns:a16="http://schemas.microsoft.com/office/drawing/2014/main" id="{1F44916B-6FDA-A232-521D-6C4BF973BCCB}"/>
              </a:ext>
            </a:extLst>
          </p:cNvPr>
          <p:cNvSpPr txBox="1"/>
          <p:nvPr/>
        </p:nvSpPr>
        <p:spPr>
          <a:xfrm>
            <a:off x="1486080" y="4126840"/>
            <a:ext cx="2286000" cy="2246769"/>
          </a:xfrm>
          <a:prstGeom prst="rect">
            <a:avLst/>
          </a:prstGeom>
          <a:noFill/>
        </p:spPr>
        <p:txBody>
          <a:bodyPr wrap="square">
            <a:spAutoFit/>
          </a:bodyPr>
          <a:lstStyle/>
          <a:p>
            <a:r>
              <a:rPr lang="it-IT" sz="1000" dirty="0"/>
              <a:t>Prof. </a:t>
            </a:r>
            <a:r>
              <a:rPr lang="it-IT" sz="1000" b="1" dirty="0"/>
              <a:t>Giovanni De Micheli</a:t>
            </a:r>
          </a:p>
          <a:p>
            <a:r>
              <a:rPr lang="it-IT" sz="1000" dirty="0"/>
              <a:t>EPFL, Switzerland</a:t>
            </a:r>
          </a:p>
          <a:p>
            <a:endParaRPr lang="it-IT" sz="1000" b="1" dirty="0"/>
          </a:p>
          <a:p>
            <a:r>
              <a:rPr lang="en-US" sz="1000" b="1" dirty="0"/>
              <a:t>Sustainable and Secure Computing: the Last Frontier</a:t>
            </a:r>
          </a:p>
          <a:p>
            <a:endParaRPr lang="en-US" sz="1000" b="1" dirty="0"/>
          </a:p>
          <a:p>
            <a:r>
              <a:rPr lang="en-US" sz="1000" b="1" dirty="0"/>
              <a:t>Short Abstract:</a:t>
            </a:r>
            <a:r>
              <a:rPr lang="en-US" sz="1000" dirty="0"/>
              <a:t> This keynote explores the convergence of sustainability and security in modern computing, highlighting key challenges and emerging approaches for building energy-efficient and resilient systems.</a:t>
            </a:r>
            <a:endParaRPr lang="it-IT" sz="1000" dirty="0"/>
          </a:p>
          <a:p>
            <a:endParaRPr lang="en-US" sz="1000" dirty="0"/>
          </a:p>
        </p:txBody>
      </p:sp>
      <p:pic>
        <p:nvPicPr>
          <p:cNvPr id="2050" name="Picture 2" descr="Prof. Giovanni De Micheli">
            <a:extLst>
              <a:ext uri="{FF2B5EF4-FFF2-40B4-BE49-F238E27FC236}">
                <a16:creationId xmlns:a16="http://schemas.microsoft.com/office/drawing/2014/main" id="{A8772470-E937-09C1-A9F9-10E7EB4B57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7878" y="4014148"/>
            <a:ext cx="1088136" cy="933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2058" name="Picture 10" descr="Prof. Wolfgang Ecker">
            <a:extLst>
              <a:ext uri="{FF2B5EF4-FFF2-40B4-BE49-F238E27FC236}">
                <a16:creationId xmlns:a16="http://schemas.microsoft.com/office/drawing/2014/main" id="{AFAC9363-AAB6-4EC6-69BE-1BC1B41F5D5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9820" r="26511" b="19480"/>
          <a:stretch/>
        </p:blipFill>
        <p:spPr bwMode="auto">
          <a:xfrm>
            <a:off x="4068853" y="3936715"/>
            <a:ext cx="1088136" cy="108813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D1EC48CB-038A-724D-4381-285E6774B250}"/>
              </a:ext>
            </a:extLst>
          </p:cNvPr>
          <p:cNvSpPr txBox="1"/>
          <p:nvPr/>
        </p:nvSpPr>
        <p:spPr>
          <a:xfrm>
            <a:off x="5314390" y="4126840"/>
            <a:ext cx="2286000" cy="2092881"/>
          </a:xfrm>
          <a:prstGeom prst="rect">
            <a:avLst/>
          </a:prstGeom>
          <a:noFill/>
        </p:spPr>
        <p:txBody>
          <a:bodyPr wrap="square">
            <a:spAutoFit/>
          </a:bodyPr>
          <a:lstStyle/>
          <a:p>
            <a:r>
              <a:rPr lang="it-IT" sz="1000" dirty="0"/>
              <a:t>Prof. </a:t>
            </a:r>
            <a:r>
              <a:rPr lang="it-IT" sz="1000" b="1" dirty="0"/>
              <a:t>Wolfgang Ecker</a:t>
            </a:r>
          </a:p>
          <a:p>
            <a:r>
              <a:rPr lang="en-US" sz="1000" dirty="0"/>
              <a:t>TUM- Infineon, Germany</a:t>
            </a:r>
          </a:p>
          <a:p>
            <a:endParaRPr lang="it-IT" sz="1000" b="1" dirty="0"/>
          </a:p>
          <a:p>
            <a:r>
              <a:rPr lang="en-US" sz="1000" b="1" dirty="0"/>
              <a:t>What is the IP Reuse Trap for Digital Hardware, and how can it be escaped?</a:t>
            </a:r>
            <a:endParaRPr lang="it-IT" sz="1000" b="1" dirty="0"/>
          </a:p>
          <a:p>
            <a:endParaRPr lang="en-US" sz="1000" b="1" dirty="0"/>
          </a:p>
          <a:p>
            <a:r>
              <a:rPr lang="en-US" sz="1000" b="1" dirty="0"/>
              <a:t>Short Abstract:</a:t>
            </a:r>
            <a:r>
              <a:rPr lang="en-US" sz="1000" dirty="0"/>
              <a:t> This keynote explores the challenges of IP reuse in digital design and highlights emerging approaches to improve scalability and efficiency in SoC development.</a:t>
            </a:r>
          </a:p>
        </p:txBody>
      </p:sp>
      <p:pic>
        <p:nvPicPr>
          <p:cNvPr id="2052" name="Picture 4" descr="Prof. Valeria Bertacco">
            <a:extLst>
              <a:ext uri="{FF2B5EF4-FFF2-40B4-BE49-F238E27FC236}">
                <a16:creationId xmlns:a16="http://schemas.microsoft.com/office/drawing/2014/main" id="{5B6E4577-FDD5-23BE-2C18-4318DD584C0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878" y="1819501"/>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040A2B2D-C3E8-7980-CCD4-C16EE54F2081}"/>
              </a:ext>
            </a:extLst>
          </p:cNvPr>
          <p:cNvSpPr txBox="1"/>
          <p:nvPr/>
        </p:nvSpPr>
        <p:spPr>
          <a:xfrm>
            <a:off x="1486079" y="2009626"/>
            <a:ext cx="2286000" cy="1169551"/>
          </a:xfrm>
          <a:prstGeom prst="rect">
            <a:avLst/>
          </a:prstGeom>
          <a:noFill/>
        </p:spPr>
        <p:txBody>
          <a:bodyPr wrap="square">
            <a:spAutoFit/>
          </a:bodyPr>
          <a:lstStyle/>
          <a:p>
            <a:r>
              <a:rPr lang="it-IT" sz="1000" dirty="0"/>
              <a:t>Prof. </a:t>
            </a:r>
            <a:r>
              <a:rPr lang="it-IT" sz="1000" b="1" dirty="0"/>
              <a:t>Valeria Bertacco</a:t>
            </a:r>
          </a:p>
          <a:p>
            <a:r>
              <a:rPr lang="it-IT" sz="1000" dirty="0"/>
              <a:t>University of Michigan, USA</a:t>
            </a:r>
          </a:p>
          <a:p>
            <a:endParaRPr lang="it-IT" sz="1000" b="1" dirty="0"/>
          </a:p>
          <a:p>
            <a:r>
              <a:rPr lang="en-US" sz="1000" b="1" dirty="0"/>
              <a:t>TBA</a:t>
            </a:r>
          </a:p>
          <a:p>
            <a:endParaRPr lang="en-US" sz="1000" b="1" dirty="0"/>
          </a:p>
          <a:p>
            <a:r>
              <a:rPr lang="en-US" sz="1000" b="1" dirty="0"/>
              <a:t>Short Abstract: </a:t>
            </a:r>
            <a:r>
              <a:rPr lang="nb-NO" sz="1000" dirty="0"/>
              <a:t>TBA</a:t>
            </a:r>
            <a:endParaRPr lang="it-IT" sz="1000" dirty="0"/>
          </a:p>
          <a:p>
            <a:endParaRPr lang="en-US" sz="1000" dirty="0"/>
          </a:p>
        </p:txBody>
      </p:sp>
      <p:pic>
        <p:nvPicPr>
          <p:cNvPr id="23" name="Picture 22">
            <a:extLst>
              <a:ext uri="{FF2B5EF4-FFF2-40B4-BE49-F238E27FC236}">
                <a16:creationId xmlns:a16="http://schemas.microsoft.com/office/drawing/2014/main" id="{C690FD93-3D25-506E-9750-82574C3E59F3}"/>
              </a:ext>
            </a:extLst>
          </p:cNvPr>
          <p:cNvPicPr>
            <a:picLocks noChangeAspect="1"/>
          </p:cNvPicPr>
          <p:nvPr/>
        </p:nvPicPr>
        <p:blipFill>
          <a:blip r:embed="rId10"/>
          <a:stretch>
            <a:fillRect/>
          </a:stretch>
        </p:blipFill>
        <p:spPr>
          <a:xfrm>
            <a:off x="4068853" y="1819501"/>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1" name="TextBox 40">
            <a:extLst>
              <a:ext uri="{FF2B5EF4-FFF2-40B4-BE49-F238E27FC236}">
                <a16:creationId xmlns:a16="http://schemas.microsoft.com/office/drawing/2014/main" id="{757B77DB-89CD-C9C7-0F21-24CCB9D78EB2}"/>
              </a:ext>
            </a:extLst>
          </p:cNvPr>
          <p:cNvSpPr txBox="1"/>
          <p:nvPr/>
        </p:nvSpPr>
        <p:spPr>
          <a:xfrm>
            <a:off x="5314389" y="2009626"/>
            <a:ext cx="2286000" cy="2092881"/>
          </a:xfrm>
          <a:prstGeom prst="rect">
            <a:avLst/>
          </a:prstGeom>
          <a:noFill/>
        </p:spPr>
        <p:txBody>
          <a:bodyPr wrap="square">
            <a:spAutoFit/>
          </a:bodyPr>
          <a:lstStyle/>
          <a:p>
            <a:r>
              <a:rPr lang="it-IT" sz="1000" dirty="0"/>
              <a:t>Dr. </a:t>
            </a:r>
            <a:r>
              <a:rPr lang="it-IT" sz="1000" b="1" dirty="0"/>
              <a:t>Victor Grimblatt</a:t>
            </a:r>
          </a:p>
          <a:p>
            <a:r>
              <a:rPr lang="it-IT" sz="1000" dirty="0"/>
              <a:t>Synopsys, Vitacura, Chile</a:t>
            </a:r>
          </a:p>
          <a:p>
            <a:endParaRPr lang="en-US" sz="1000" b="1" dirty="0"/>
          </a:p>
          <a:p>
            <a:r>
              <a:rPr lang="en-US" sz="1000" b="1" dirty="0"/>
              <a:t>Low Power IC Design for a Sustainable World</a:t>
            </a:r>
          </a:p>
          <a:p>
            <a:endParaRPr lang="en-US" sz="1000" b="1" dirty="0"/>
          </a:p>
          <a:p>
            <a:r>
              <a:rPr lang="en-US" sz="1000" b="1" dirty="0"/>
              <a:t>Short Abstract: </a:t>
            </a:r>
            <a:r>
              <a:rPr lang="en-US" sz="1000" dirty="0"/>
              <a:t>This keynote explores key low-power IC design techniques and their role in reducing energy consumption, enabling more sustainable and efficient electronic systems.</a:t>
            </a:r>
            <a:endParaRPr lang="it-IT" sz="1000" dirty="0"/>
          </a:p>
          <a:p>
            <a:endParaRPr lang="en-US" sz="1000" dirty="0"/>
          </a:p>
        </p:txBody>
      </p:sp>
      <p:pic>
        <p:nvPicPr>
          <p:cNvPr id="2054" name="Picture 6" descr="Prof. Freddy Gabbay">
            <a:extLst>
              <a:ext uri="{FF2B5EF4-FFF2-40B4-BE49-F238E27FC236}">
                <a16:creationId xmlns:a16="http://schemas.microsoft.com/office/drawing/2014/main" id="{C52433C4-154D-FF65-9962-AA507E9026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7878" y="6207817"/>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7ABA1353-0556-A648-9972-201D82906816}"/>
              </a:ext>
            </a:extLst>
          </p:cNvPr>
          <p:cNvSpPr txBox="1"/>
          <p:nvPr/>
        </p:nvSpPr>
        <p:spPr>
          <a:xfrm>
            <a:off x="1512286" y="6397942"/>
            <a:ext cx="2286000" cy="2092881"/>
          </a:xfrm>
          <a:prstGeom prst="rect">
            <a:avLst/>
          </a:prstGeom>
          <a:noFill/>
        </p:spPr>
        <p:txBody>
          <a:bodyPr wrap="square">
            <a:spAutoFit/>
          </a:bodyPr>
          <a:lstStyle/>
          <a:p>
            <a:r>
              <a:rPr lang="en-US" sz="1000" dirty="0"/>
              <a:t>Prof. </a:t>
            </a:r>
            <a:r>
              <a:rPr lang="en-US" sz="1000" b="1" dirty="0"/>
              <a:t>Freddy Gabbay</a:t>
            </a:r>
          </a:p>
          <a:p>
            <a:r>
              <a:rPr lang="en-US" sz="1000" dirty="0"/>
              <a:t>Hebrew Univ. of Jerusalem</a:t>
            </a:r>
          </a:p>
          <a:p>
            <a:endParaRPr lang="en-US" sz="1000" b="1" dirty="0"/>
          </a:p>
          <a:p>
            <a:r>
              <a:rPr lang="en-US" sz="1000" b="1" dirty="0"/>
              <a:t>Do We Really Need All the Bits? Value-Driven Approximate Computing for AI Accelerators</a:t>
            </a:r>
            <a:endParaRPr lang="it-IT" sz="1000" b="1" dirty="0"/>
          </a:p>
          <a:p>
            <a:endParaRPr lang="en-US" sz="1000" b="1" dirty="0"/>
          </a:p>
          <a:p>
            <a:r>
              <a:rPr lang="en-US" sz="1000" b="1" dirty="0"/>
              <a:t>Short Abstract: </a:t>
            </a:r>
            <a:r>
              <a:rPr lang="en-US" sz="1000" dirty="0"/>
              <a:t>This keynote explores value-driven approximate computing for AI accelerators, using selective precision and co-design techniques to improve efficiency while preserving model accuracy.</a:t>
            </a:r>
          </a:p>
        </p:txBody>
      </p:sp>
      <p:pic>
        <p:nvPicPr>
          <p:cNvPr id="2056" name="Picture 8" descr="Odysseas Economides">
            <a:extLst>
              <a:ext uri="{FF2B5EF4-FFF2-40B4-BE49-F238E27FC236}">
                <a16:creationId xmlns:a16="http://schemas.microsoft.com/office/drawing/2014/main" id="{2CCCEF82-8A4D-C895-6F44-1BC84160B67D}"/>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6346" r="23121" b="24231"/>
          <a:stretch/>
        </p:blipFill>
        <p:spPr bwMode="auto">
          <a:xfrm>
            <a:off x="4095060" y="6207817"/>
            <a:ext cx="1088136" cy="1088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6E42C63E-CC91-8D32-6B2D-0756ADD865DE}"/>
              </a:ext>
            </a:extLst>
          </p:cNvPr>
          <p:cNvSpPr txBox="1"/>
          <p:nvPr/>
        </p:nvSpPr>
        <p:spPr>
          <a:xfrm>
            <a:off x="5340596" y="6397942"/>
            <a:ext cx="2286000" cy="2246769"/>
          </a:xfrm>
          <a:prstGeom prst="rect">
            <a:avLst/>
          </a:prstGeom>
          <a:noFill/>
        </p:spPr>
        <p:txBody>
          <a:bodyPr wrap="square">
            <a:spAutoFit/>
          </a:bodyPr>
          <a:lstStyle/>
          <a:p>
            <a:r>
              <a:rPr lang="en-US" sz="1000" b="1" dirty="0"/>
              <a:t>Odysseas Economides</a:t>
            </a:r>
          </a:p>
          <a:p>
            <a:r>
              <a:rPr lang="en-US" sz="1000" dirty="0" err="1"/>
              <a:t>HardwareX</a:t>
            </a:r>
            <a:r>
              <a:rPr lang="en-US" sz="1000" dirty="0"/>
              <a:t> Engineering, Cyprus</a:t>
            </a:r>
          </a:p>
          <a:p>
            <a:endParaRPr lang="en-US" sz="1000" b="1" dirty="0"/>
          </a:p>
          <a:p>
            <a:r>
              <a:rPr lang="en-US" sz="1000" b="1" dirty="0"/>
              <a:t>Bridging the gap between research and industry through embedded systems</a:t>
            </a:r>
          </a:p>
          <a:p>
            <a:endParaRPr lang="en-US" sz="1000" b="1" dirty="0"/>
          </a:p>
          <a:p>
            <a:r>
              <a:rPr lang="en-US" sz="1000" b="1" dirty="0"/>
              <a:t>Short Abstract: </a:t>
            </a:r>
            <a:r>
              <a:rPr lang="en-US" sz="1000" dirty="0"/>
              <a:t>This keynote explores how embedded systems enable the translation of research innovations into real-world industrial applications, highlighting challenges and strategies for effective technology transfer.</a:t>
            </a:r>
          </a:p>
        </p:txBody>
      </p:sp>
      <p:sp>
        <p:nvSpPr>
          <p:cNvPr id="2049" name="TextBox 2048">
            <a:extLst>
              <a:ext uri="{FF2B5EF4-FFF2-40B4-BE49-F238E27FC236}">
                <a16:creationId xmlns:a16="http://schemas.microsoft.com/office/drawing/2014/main" id="{8941A0ED-D579-0DD9-600D-EA3761FB6A07}"/>
              </a:ext>
            </a:extLst>
          </p:cNvPr>
          <p:cNvSpPr txBox="1"/>
          <p:nvPr/>
        </p:nvSpPr>
        <p:spPr>
          <a:xfrm>
            <a:off x="2664153" y="8628915"/>
            <a:ext cx="2532798" cy="307777"/>
          </a:xfrm>
          <a:prstGeom prst="rect">
            <a:avLst/>
          </a:prstGeom>
          <a:noFill/>
        </p:spPr>
        <p:txBody>
          <a:bodyPr wrap="square">
            <a:spAutoFit/>
          </a:bodyPr>
          <a:lstStyle/>
          <a:p>
            <a:pPr algn="ctr"/>
            <a:r>
              <a:rPr lang="it-IT" sz="1400" b="1" dirty="0"/>
              <a:t>Further Opportunities</a:t>
            </a:r>
            <a:endParaRPr lang="en-US" sz="1400" b="1" dirty="0"/>
          </a:p>
        </p:txBody>
      </p:sp>
      <p:pic>
        <p:nvPicPr>
          <p:cNvPr id="2060" name="Picture 12" descr="IEEE">
            <a:extLst>
              <a:ext uri="{FF2B5EF4-FFF2-40B4-BE49-F238E27FC236}">
                <a16:creationId xmlns:a16="http://schemas.microsoft.com/office/drawing/2014/main" id="{F5176C4F-5468-CE9D-72AB-CDAA17BA6C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83679" y="10037473"/>
            <a:ext cx="3025029" cy="6271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725B10B-517F-BE8F-DF74-4DCC898D60C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513648" y="535912"/>
            <a:ext cx="794087" cy="440573"/>
          </a:xfrm>
          <a:prstGeom prst="rect">
            <a:avLst/>
          </a:prstGeom>
        </p:spPr>
      </p:pic>
      <p:pic>
        <p:nvPicPr>
          <p:cNvPr id="6" name="Picture 2">
            <a:extLst>
              <a:ext uri="{FF2B5EF4-FFF2-40B4-BE49-F238E27FC236}">
                <a16:creationId xmlns:a16="http://schemas.microsoft.com/office/drawing/2014/main" id="{AE873CA8-A761-3AC0-B3E9-B837F800325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29795" y="500167"/>
            <a:ext cx="409651" cy="5120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E56D10DB-917D-3AD0-441D-6F86951B72E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3167" y="572668"/>
            <a:ext cx="1123060" cy="36706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ue and white logo&#10;&#10;AI-generated content may be incorrect.">
            <a:extLst>
              <a:ext uri="{FF2B5EF4-FFF2-40B4-BE49-F238E27FC236}">
                <a16:creationId xmlns:a16="http://schemas.microsoft.com/office/drawing/2014/main" id="{2B63E5E1-E7D2-D953-98E9-F28E82046BDB}"/>
              </a:ext>
            </a:extLst>
          </p:cNvPr>
          <p:cNvPicPr>
            <a:picLocks noChangeAspect="1"/>
          </p:cNvPicPr>
          <p:nvPr/>
        </p:nvPicPr>
        <p:blipFill>
          <a:blip r:embed="rId17"/>
          <a:stretch>
            <a:fillRect/>
          </a:stretch>
        </p:blipFill>
        <p:spPr>
          <a:xfrm>
            <a:off x="5051874" y="988387"/>
            <a:ext cx="601014" cy="312527"/>
          </a:xfrm>
          <a:prstGeom prst="rect">
            <a:avLst/>
          </a:prstGeom>
        </p:spPr>
      </p:pic>
      <p:pic>
        <p:nvPicPr>
          <p:cNvPr id="10" name="Picture 9" descr="A green and black logo&#10;&#10;AI-generated content may be incorrect.">
            <a:extLst>
              <a:ext uri="{FF2B5EF4-FFF2-40B4-BE49-F238E27FC236}">
                <a16:creationId xmlns:a16="http://schemas.microsoft.com/office/drawing/2014/main" id="{AB2FDA6F-A369-96DA-3099-AEDCBA4EC089}"/>
              </a:ext>
            </a:extLst>
          </p:cNvPr>
          <p:cNvPicPr>
            <a:picLocks noChangeAspect="1"/>
          </p:cNvPicPr>
          <p:nvPr/>
        </p:nvPicPr>
        <p:blipFill>
          <a:blip r:embed="rId18"/>
          <a:srcRect l="15592" r="22816"/>
          <a:stretch>
            <a:fillRect/>
          </a:stretch>
        </p:blipFill>
        <p:spPr>
          <a:xfrm>
            <a:off x="5768833" y="971650"/>
            <a:ext cx="409826" cy="346000"/>
          </a:xfrm>
          <a:prstGeom prst="rect">
            <a:avLst/>
          </a:prstGeom>
        </p:spPr>
      </p:pic>
      <p:pic>
        <p:nvPicPr>
          <p:cNvPr id="26" name="Picture 25" descr="A blue logo on a black background&#10;&#10;AI-generated content may be incorrect.">
            <a:extLst>
              <a:ext uri="{FF2B5EF4-FFF2-40B4-BE49-F238E27FC236}">
                <a16:creationId xmlns:a16="http://schemas.microsoft.com/office/drawing/2014/main" id="{B181605A-DE9E-FA86-1F19-9017EFD3C510}"/>
              </a:ext>
            </a:extLst>
          </p:cNvPr>
          <p:cNvPicPr>
            <a:picLocks noChangeAspect="1"/>
          </p:cNvPicPr>
          <p:nvPr/>
        </p:nvPicPr>
        <p:blipFill>
          <a:blip r:embed="rId19"/>
          <a:stretch>
            <a:fillRect/>
          </a:stretch>
        </p:blipFill>
        <p:spPr>
          <a:xfrm>
            <a:off x="4270546" y="971651"/>
            <a:ext cx="665383" cy="345999"/>
          </a:xfrm>
          <a:prstGeom prst="rect">
            <a:avLst/>
          </a:prstGeom>
        </p:spPr>
      </p:pic>
      <p:pic>
        <p:nvPicPr>
          <p:cNvPr id="29" name="Picture 28" descr="A logo with a black background&#10;&#10;AI-generated content may be incorrect.">
            <a:extLst>
              <a:ext uri="{FF2B5EF4-FFF2-40B4-BE49-F238E27FC236}">
                <a16:creationId xmlns:a16="http://schemas.microsoft.com/office/drawing/2014/main" id="{04F8BB66-DF05-D172-15CB-C07B4FF1C4FC}"/>
              </a:ext>
            </a:extLst>
          </p:cNvPr>
          <p:cNvPicPr>
            <a:picLocks noChangeAspect="1"/>
          </p:cNvPicPr>
          <p:nvPr/>
        </p:nvPicPr>
        <p:blipFill>
          <a:blip r:embed="rId20"/>
          <a:stretch>
            <a:fillRect/>
          </a:stretch>
        </p:blipFill>
        <p:spPr>
          <a:xfrm>
            <a:off x="3472974" y="967427"/>
            <a:ext cx="681627" cy="354446"/>
          </a:xfrm>
          <a:prstGeom prst="rect">
            <a:avLst/>
          </a:prstGeom>
        </p:spPr>
      </p:pic>
      <p:pic>
        <p:nvPicPr>
          <p:cNvPr id="31" name="Picture 2" descr="I-Form">
            <a:extLst>
              <a:ext uri="{FF2B5EF4-FFF2-40B4-BE49-F238E27FC236}">
                <a16:creationId xmlns:a16="http://schemas.microsoft.com/office/drawing/2014/main" id="{EB930EE4-2EA2-4C6D-A1FE-3CD725D1B42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94603" y="959593"/>
            <a:ext cx="685397" cy="37011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UiS_landscape_logo_positive_RGB_English">
            <a:extLst>
              <a:ext uri="{FF2B5EF4-FFF2-40B4-BE49-F238E27FC236}">
                <a16:creationId xmlns:a16="http://schemas.microsoft.com/office/drawing/2014/main" id="{077871D3-E950-6E67-35CA-D2E6F1C6B608}"/>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12173" t="16852" r="15160" b="19124"/>
          <a:stretch/>
        </p:blipFill>
        <p:spPr bwMode="auto">
          <a:xfrm>
            <a:off x="4961506" y="599935"/>
            <a:ext cx="779602" cy="31252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15">
            <a:extLst>
              <a:ext uri="{FF2B5EF4-FFF2-40B4-BE49-F238E27FC236}">
                <a16:creationId xmlns:a16="http://schemas.microsoft.com/office/drawing/2014/main" id="{67D9ADE7-7E0C-3F14-C394-CCB87B742FDC}"/>
              </a:ext>
            </a:extLst>
          </p:cNvPr>
          <p:cNvSpPr/>
          <p:nvPr/>
        </p:nvSpPr>
        <p:spPr>
          <a:xfrm>
            <a:off x="237878" y="8987696"/>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Call for Special Sessions</a:t>
            </a:r>
          </a:p>
        </p:txBody>
      </p:sp>
      <p:sp>
        <p:nvSpPr>
          <p:cNvPr id="17" name="Rectangle: Rounded Corners 16">
            <a:extLst>
              <a:ext uri="{FF2B5EF4-FFF2-40B4-BE49-F238E27FC236}">
                <a16:creationId xmlns:a16="http://schemas.microsoft.com/office/drawing/2014/main" id="{FBE9DCED-4528-7D9A-669C-AEDF7B481E93}"/>
              </a:ext>
            </a:extLst>
          </p:cNvPr>
          <p:cNvSpPr/>
          <p:nvPr/>
        </p:nvSpPr>
        <p:spPr>
          <a:xfrm>
            <a:off x="2170705" y="8987696"/>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PhD &amp; Student Forum</a:t>
            </a:r>
          </a:p>
        </p:txBody>
      </p:sp>
      <p:sp>
        <p:nvSpPr>
          <p:cNvPr id="18" name="Rectangle: Rounded Corners 17">
            <a:extLst>
              <a:ext uri="{FF2B5EF4-FFF2-40B4-BE49-F238E27FC236}">
                <a16:creationId xmlns:a16="http://schemas.microsoft.com/office/drawing/2014/main" id="{0CA844D2-798C-093D-AF9D-3EC6FD5B3CF3}"/>
              </a:ext>
            </a:extLst>
          </p:cNvPr>
          <p:cNvSpPr/>
          <p:nvPr/>
        </p:nvSpPr>
        <p:spPr>
          <a:xfrm>
            <a:off x="4103532" y="8987696"/>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Two Exciting Tutorial Sessions</a:t>
            </a:r>
          </a:p>
        </p:txBody>
      </p:sp>
      <p:sp>
        <p:nvSpPr>
          <p:cNvPr id="19" name="Rectangle: Rounded Corners 18">
            <a:extLst>
              <a:ext uri="{FF2B5EF4-FFF2-40B4-BE49-F238E27FC236}">
                <a16:creationId xmlns:a16="http://schemas.microsoft.com/office/drawing/2014/main" id="{E6C2ADD9-F621-F9AB-8A4D-F3DAC3C71B31}"/>
              </a:ext>
            </a:extLst>
          </p:cNvPr>
          <p:cNvSpPr/>
          <p:nvPr/>
        </p:nvSpPr>
        <p:spPr>
          <a:xfrm>
            <a:off x="6036360" y="8987696"/>
            <a:ext cx="1590236" cy="880602"/>
          </a:xfrm>
          <a:prstGeom prst="roundRect">
            <a:avLst/>
          </a:prstGeom>
          <a:solidFill>
            <a:schemeClr val="accent4">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ysClr val="windowText" lastClr="000000"/>
                </a:solidFill>
              </a:rPr>
              <a:t>Inspiring Panel Session</a:t>
            </a:r>
          </a:p>
        </p:txBody>
      </p:sp>
      <p:sp>
        <p:nvSpPr>
          <p:cNvPr id="9" name="TextBox 8">
            <a:extLst>
              <a:ext uri="{FF2B5EF4-FFF2-40B4-BE49-F238E27FC236}">
                <a16:creationId xmlns:a16="http://schemas.microsoft.com/office/drawing/2014/main" id="{5E24EDE2-67BA-4093-7E2E-809BF6A9C640}"/>
              </a:ext>
            </a:extLst>
          </p:cNvPr>
          <p:cNvSpPr txBox="1"/>
          <p:nvPr/>
        </p:nvSpPr>
        <p:spPr>
          <a:xfrm>
            <a:off x="5888767" y="9582365"/>
            <a:ext cx="2066045" cy="756169"/>
          </a:xfrm>
          <a:prstGeom prst="rect">
            <a:avLst/>
          </a:prstGeom>
          <a:noFill/>
        </p:spPr>
        <p:txBody>
          <a:bodyPr wrap="square">
            <a:spAutoFit/>
          </a:bodyPr>
          <a:lstStyle/>
          <a:p>
            <a:pPr algn="ctr"/>
            <a:r>
              <a:rPr lang="en-US" b="1" i="0" dirty="0">
                <a:solidFill>
                  <a:srgbClr val="212529"/>
                </a:solidFill>
                <a:effectLst/>
                <a:latin typeface="+mn-lt"/>
              </a:rPr>
              <a:t>AI as the Chip Designer: Evolution or Illusion?</a:t>
            </a:r>
            <a:endParaRPr lang="en-US" b="1" dirty="0">
              <a:latin typeface="+mn-lt"/>
            </a:endParaRPr>
          </a:p>
        </p:txBody>
      </p:sp>
    </p:spTree>
    <p:extLst>
      <p:ext uri="{BB962C8B-B14F-4D97-AF65-F5344CB8AC3E}">
        <p14:creationId xmlns:p14="http://schemas.microsoft.com/office/powerpoint/2010/main" val="128985032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3A5999C3EFB347B4AB565E733352A4" ma:contentTypeVersion="11" ma:contentTypeDescription="Create a new document." ma:contentTypeScope="" ma:versionID="e92b92cfff44978dc22bb08f224e8faa">
  <xsd:schema xmlns:xsd="http://www.w3.org/2001/XMLSchema" xmlns:xs="http://www.w3.org/2001/XMLSchema" xmlns:p="http://schemas.microsoft.com/office/2006/metadata/properties" xmlns:ns2="5b22c383-46e5-46be-b513-765ea36b461b" xmlns:ns3="dc7acd99-6273-457d-af8b-613108b301e7" targetNamespace="http://schemas.microsoft.com/office/2006/metadata/properties" ma:root="true" ma:fieldsID="b4de14bbd8a20b0b98e158c3767b4a18" ns2:_="" ns3:_="">
    <xsd:import namespace="5b22c383-46e5-46be-b513-765ea36b461b"/>
    <xsd:import namespace="dc7acd99-6273-457d-af8b-613108b301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22c383-46e5-46be-b513-765ea36b4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051377f-c3a4-486c-a87b-1b24b1195840"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c7acd99-6273-457d-af8b-613108b301e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f8016bb-7415-4adb-a608-f662e1d64736}" ma:internalName="TaxCatchAll" ma:showField="CatchAllData" ma:web="dc7acd99-6273-457d-af8b-613108b301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c7acd99-6273-457d-af8b-613108b301e7" xsi:nil="true"/>
    <lcf76f155ced4ddcb4097134ff3c332f xmlns="5b22c383-46e5-46be-b513-765ea36b461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39CBBC3-7020-4661-9305-9C5B6E3D0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22c383-46e5-46be-b513-765ea36b461b"/>
    <ds:schemaRef ds:uri="dc7acd99-6273-457d-af8b-613108b301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7BDC14-8497-4D54-B128-9BB0C28EA46F}">
  <ds:schemaRefs>
    <ds:schemaRef ds:uri="http://schemas.microsoft.com/sharepoint/v3/contenttype/forms"/>
  </ds:schemaRefs>
</ds:datastoreItem>
</file>

<file path=customXml/itemProps3.xml><?xml version="1.0" encoding="utf-8"?>
<ds:datastoreItem xmlns:ds="http://schemas.openxmlformats.org/officeDocument/2006/customXml" ds:itemID="{623F3E96-E393-480F-B951-520B2B2B4356}">
  <ds:schemaRefs>
    <ds:schemaRef ds:uri="http://schemas.microsoft.com/office/2006/metadata/properties"/>
    <ds:schemaRef ds:uri="http://schemas.microsoft.com/office/2006/documentManagement/types"/>
    <ds:schemaRef ds:uri="dc7acd99-6273-457d-af8b-613108b301e7"/>
    <ds:schemaRef ds:uri="http://purl.org/dc/dcmitype/"/>
    <ds:schemaRef ds:uri="http://schemas.microsoft.com/office/infopath/2007/PartnerControls"/>
    <ds:schemaRef ds:uri="http://purl.org/dc/terms/"/>
    <ds:schemaRef ds:uri="http://schemas.openxmlformats.org/package/2006/metadata/core-properties"/>
    <ds:schemaRef ds:uri="5b22c383-46e5-46be-b513-765ea36b461b"/>
    <ds:schemaRef ds:uri="http://www.w3.org/XML/1998/namespace"/>
    <ds:schemaRef ds:uri="http://purl.org/dc/elements/1.1/"/>
  </ds:schemaRefs>
</ds:datastoreItem>
</file>

<file path=docMetadata/LabelInfo.xml><?xml version="1.0" encoding="utf-8"?>
<clbl:labelList xmlns:clbl="http://schemas.microsoft.com/office/2020/mipLabelMetadata">
  <clbl:label id="{2b7fce66-bf2d-46b5-b59a-9f0018501bcd}" enabled="1" method="Standard" siteId="{f8a213d2-8f6c-400d-9e74-4e8b475316c6}" removed="0"/>
</clbl:labelList>
</file>

<file path=docProps/app.xml><?xml version="1.0" encoding="utf-8"?>
<Properties xmlns="http://schemas.openxmlformats.org/officeDocument/2006/extended-properties" xmlns:vt="http://schemas.openxmlformats.org/officeDocument/2006/docPropsVTypes">
  <TotalTime>1002</TotalTime>
  <Words>2252</Words>
  <Application>Microsoft Macintosh PowerPoint</Application>
  <PresentationFormat>Custom</PresentationFormat>
  <Paragraphs>217</Paragraphs>
  <Slides>4</Slides>
  <Notes>4</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Century Gothic</vt:lpstr>
      <vt:lpstr>Calibri</vt:lpstr>
      <vt:lpstr>Arial</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firouzi</dc:creator>
  <cp:lastModifiedBy>Florenc Demrozi</cp:lastModifiedBy>
  <cp:revision>16</cp:revision>
  <dcterms:created xsi:type="dcterms:W3CDTF">2019-08-28T11:23:06Z</dcterms:created>
  <dcterms:modified xsi:type="dcterms:W3CDTF">2026-04-22T08:04:34Z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0x010100C93A5999C3EFB347B4AB565E733352A4</vt:lpwstr>
  </property>
  <property fmtid="{D5CDD505-2E9C-101B-9397-08002B2CF9AE}" pid="3" name="MediaServiceImageTags">
    <vt:lpwstr/>
  </property>
</Properties>
</file>